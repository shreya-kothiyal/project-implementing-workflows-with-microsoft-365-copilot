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6858000" cy="9144000"/>
  <p:embeddedFontLst>
    <p:embeddedFont>
      <p:font typeface="Helvetica Neue" panose="020B0604020202020204" charset="0"/>
      <p:bold r:id="rId10"/>
      <p:boldItalic r:id="rId11"/>
    </p:embeddedFont>
    <p:embeddedFont>
      <p:font typeface="Helvetica Neue Light" panose="020B0604020202020204"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9" d="100"/>
          <a:sy n="119" d="100"/>
        </p:scale>
        <p:origin x="418" y="96"/>
      </p:cViewPr>
      <p:guideLst>
        <p:guide orient="horz" pos="1620"/>
        <p:guide pos="2880"/>
      </p:guideLst>
    </p:cSldViewPr>
  </p:slideViewPr>
  <p:notesTextViewPr>
    <p:cViewPr>
      <p:scale>
        <a:sx n="1" d="1"/>
        <a:sy n="1" d="1"/>
      </p:scale>
      <p:origin x="0" y="-12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10" Type="http://schemas.openxmlformats.org/officeDocument/2006/relationships/font" Target="fonts/font1.fntdata"/><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3eedddaedf4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 name="Google Shape;53;g3eedddaedf4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Good morning everyone. This presentation summarizes the critical supply chain issues affecting production continuity and FDA compliance. We will review the key risks, analyze the supporting data, discuss the proposed solutions, and walk through the implementation plan designed to stabilize operations and strengthen regulatory readiness.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3eedddaedf4_0_3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3eedddaedf4_0_3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Three critical issues were identified. First, BIND567 is experiencing quality control failures due to molecular inconsistencies. Second, COMP042 has significant traceability and documentation gaps that create compliance risk. Third, COMP043 is affected by supplier GMP violations, stockouts, and delivery instability. These issues are interconnected and are disrupting production schedules, increasing operational costs, and raising FDA compliance concerns.</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eedddaedf4_0_4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eedddaedf4_0_4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This analysis compares average delivery timelines by risk level. Medium-risk components show the longest average timeline at 15.13 days, compared with 11.25 days for high-risk and 12.86 days for low-risk components. The result suggests that medium-risk suppliers may not be receiving the same level of oversight as high-risk suppliers, making them an important area for additional monitoring.</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eedddaedf4_0_5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eedddaedf4_0_5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This slide shows on-time delivery performance for key delayed components. BIND567 achieved 99.00% on-time delivery, CARB123 achieved 90.25%, and COAT890 achieved 84.20%. Although BIND567 performs well on delivery metrics, its quality issues remain significant. COAT890 shows the weakest delivery performance and should be prioritized for supplier review and corrective action.</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eedddaedf4_0_7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eedddaedf4_0_7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Supplier reliability scores range from 91.43% to 93.20%. </a:t>
            </a:r>
            <a:r>
              <a:rPr lang="en-US" dirty="0" err="1"/>
              <a:t>EcoSupply</a:t>
            </a:r>
            <a:r>
              <a:rPr lang="en-US" dirty="0"/>
              <a:t> is currently the strongest performer at 93.20%, while </a:t>
            </a:r>
            <a:r>
              <a:rPr lang="en-US" dirty="0" err="1"/>
              <a:t>PrimeLogistics</a:t>
            </a:r>
            <a:r>
              <a:rPr lang="en-US" dirty="0"/>
              <a:t> is the weakest at 91.43%. NextGen Pharma also trails the top performers. These findings support targeted supplier improvement initiatives and closer monitoring of the lower-performing suppliers.</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eedddaedf4_0_8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eedddaedf4_0_8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Our recommendations focus on both immediate stabilization and long-term resilience. Immediate actions include validating inventory, auditing suppliers, and correcting traceability deficiencies. Longer-term actions include qualifying secondary suppliers, increasing safety stock for critical components, strengthening supplier monitoring, and improving documentation controls. Together, these measures reduce operational risk and improve FDA compliance readiness.</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eedddaedf4_0_10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3eedddaedf4_0_10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implementation plan follows a phased approach. In the first 7 days, we will validate batches, conduct supplier audits, and review documentation. Over the next 1–3 weeks, we will execute supplier remediation activities and qualify alternative suppliers. Ongoing actions include KPI monitoring, weekly governance reviews, and continuous compliance assessments. </a:t>
            </a:r>
            <a:r>
              <a:rPr lang="en-US"/>
              <a:t>This structure ensures rapid stabilization while supporting sustained improvement.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Generated (g3eedddaedf4_12_0)">
  <p:cSld name="Generated (g3eedddaedf4_12_0)">
    <p:spTree>
      <p:nvGrpSpPr>
        <p:cNvPr id="1"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4"/>
        <p:cNvGrpSpPr/>
        <p:nvPr/>
      </p:nvGrpSpPr>
      <p:grpSpPr>
        <a:xfrm>
          <a:off x="0" y="0"/>
          <a:ext cx="0" cy="0"/>
          <a:chOff x="0" y="0"/>
          <a:chExt cx="0" cy="0"/>
        </a:xfrm>
      </p:grpSpPr>
      <p:pic>
        <p:nvPicPr>
          <p:cNvPr id="55" name="Google Shape;55;p14" descr="A sophisticated, high-end abstract architectural view of a modern pharmaceutical laboratory or a clean, blue-toned medical supply chain warehouse with soft bokeh. Professional, corporate, and trustworthy atmosphere."/>
          <p:cNvPicPr preferRelativeResize="0"/>
          <p:nvPr/>
        </p:nvPicPr>
        <p:blipFill rotWithShape="1">
          <a:blip r:embed="rId4">
            <a:alphaModFix/>
          </a:blip>
          <a:srcRect t="20367" b="20373"/>
          <a:stretch/>
        </p:blipFill>
        <p:spPr>
          <a:xfrm>
            <a:off x="0" y="0"/>
            <a:ext cx="9144000" cy="3048000"/>
          </a:xfrm>
          <a:prstGeom prst="roundRect">
            <a:avLst>
              <a:gd name="adj" fmla="val 0"/>
            </a:avLst>
          </a:prstGeom>
          <a:noFill/>
          <a:ln>
            <a:noFill/>
          </a:ln>
        </p:spPr>
      </p:pic>
      <p:sp>
        <p:nvSpPr>
          <p:cNvPr id="56" name="Google Shape;56;p14"/>
          <p:cNvSpPr/>
          <p:nvPr/>
        </p:nvSpPr>
        <p:spPr>
          <a:xfrm>
            <a:off x="0" y="0"/>
            <a:ext cx="9144000" cy="3048000"/>
          </a:xfrm>
          <a:prstGeom prst="rect">
            <a:avLst/>
          </a:prstGeom>
          <a:solidFill>
            <a:srgbClr val="1A365D">
              <a:alpha val="1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7" name="Google Shape;57;p14"/>
          <p:cNvSpPr/>
          <p:nvPr/>
        </p:nvSpPr>
        <p:spPr>
          <a:xfrm>
            <a:off x="0" y="3000375"/>
            <a:ext cx="9144000" cy="47700"/>
          </a:xfrm>
          <a:prstGeom prst="rect">
            <a:avLst/>
          </a:prstGeom>
          <a:solidFill>
            <a:srgbClr val="3182C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58" name="Google Shape;58;p14"/>
          <p:cNvGrpSpPr/>
          <p:nvPr/>
        </p:nvGrpSpPr>
        <p:grpSpPr>
          <a:xfrm>
            <a:off x="571500" y="3429000"/>
            <a:ext cx="8001000" cy="1190625"/>
            <a:chOff x="0" y="0"/>
            <a:chExt cx="8001000" cy="1190625"/>
          </a:xfrm>
        </p:grpSpPr>
        <p:sp>
          <p:nvSpPr>
            <p:cNvPr id="59" name="Google Shape;59;p14"/>
            <p:cNvSpPr txBox="1"/>
            <p:nvPr/>
          </p:nvSpPr>
          <p:spPr>
            <a:xfrm>
              <a:off x="0" y="0"/>
              <a:ext cx="8001000" cy="762000"/>
            </a:xfrm>
            <a:prstGeom prst="rect">
              <a:avLst/>
            </a:prstGeom>
            <a:noFill/>
            <a:ln>
              <a:noFill/>
            </a:ln>
          </p:spPr>
          <p:txBody>
            <a:bodyPr spcFirstLastPara="1" wrap="square" lIns="0" tIns="0" rIns="0" bIns="0" anchor="b" anchorCtr="0">
              <a:noAutofit/>
            </a:bodyPr>
            <a:lstStyle/>
            <a:p>
              <a:pPr marL="0" lvl="0" indent="0" algn="l" rtl="0">
                <a:spcBef>
                  <a:spcPts val="0"/>
                </a:spcBef>
                <a:spcAft>
                  <a:spcPts val="0"/>
                </a:spcAft>
                <a:buNone/>
              </a:pPr>
              <a:r>
                <a:rPr lang="en-GB" sz="3255" b="1">
                  <a:solidFill>
                    <a:srgbClr val="1A365D"/>
                  </a:solidFill>
                  <a:latin typeface="Helvetica Neue"/>
                  <a:ea typeface="Helvetica Neue"/>
                  <a:cs typeface="Helvetica Neue"/>
                  <a:sym typeface="Helvetica Neue"/>
                </a:rPr>
                <a:t>Supply Chain Issue Compliance Report</a:t>
              </a:r>
              <a:endParaRPr sz="3255" b="1">
                <a:solidFill>
                  <a:srgbClr val="1A365D"/>
                </a:solidFill>
                <a:latin typeface="Helvetica Neue"/>
                <a:ea typeface="Helvetica Neue"/>
                <a:cs typeface="Helvetica Neue"/>
                <a:sym typeface="Helvetica Neue"/>
              </a:endParaRPr>
            </a:p>
          </p:txBody>
        </p:sp>
        <p:sp>
          <p:nvSpPr>
            <p:cNvPr id="60" name="Google Shape;60;p14"/>
            <p:cNvSpPr txBox="1"/>
            <p:nvPr/>
          </p:nvSpPr>
          <p:spPr>
            <a:xfrm>
              <a:off x="0" y="809625"/>
              <a:ext cx="8001000" cy="381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800" b="0">
                  <a:solidFill>
                    <a:srgbClr val="4A5568"/>
                  </a:solidFill>
                  <a:latin typeface="Helvetica Neue Light"/>
                  <a:ea typeface="Helvetica Neue Light"/>
                  <a:cs typeface="Helvetica Neue Light"/>
                  <a:sym typeface="Helvetica Neue Light"/>
                </a:rPr>
                <a:t>Addressing Critical Supply Chain Risks and FDA Compliance Challenges</a:t>
              </a:r>
              <a:endParaRPr sz="1800" b="0">
                <a:solidFill>
                  <a:srgbClr val="4A5568"/>
                </a:solidFill>
                <a:latin typeface="Helvetica Neue Light"/>
                <a:ea typeface="Helvetica Neue Light"/>
                <a:cs typeface="Helvetica Neue Light"/>
                <a:sym typeface="Helvetica Neue Light"/>
              </a:endParaRPr>
            </a:p>
          </p:txBody>
        </p:sp>
      </p:grpSp>
      <p:pic>
        <p:nvPicPr>
          <p:cNvPr id="61" name="Google Shape;61;p14"/>
          <p:cNvPicPr preferRelativeResize="0"/>
          <p:nvPr/>
        </p:nvPicPr>
        <p:blipFill rotWithShape="1">
          <a:blip r:embed="rId5">
            <a:alphaModFix/>
          </a:blip>
          <a:srcRect/>
          <a:stretch/>
        </p:blipFill>
        <p:spPr>
          <a:xfrm>
            <a:off x="571500" y="4662488"/>
            <a:ext cx="8001000" cy="9600"/>
          </a:xfrm>
          <a:prstGeom prst="rect">
            <a:avLst/>
          </a:prstGeom>
          <a:noFill/>
          <a:ln>
            <a:noFill/>
          </a:ln>
        </p:spPr>
      </p:pic>
      <p:grpSp>
        <p:nvGrpSpPr>
          <p:cNvPr id="62" name="Google Shape;62;p14"/>
          <p:cNvGrpSpPr/>
          <p:nvPr/>
        </p:nvGrpSpPr>
        <p:grpSpPr>
          <a:xfrm>
            <a:off x="571500" y="4781550"/>
            <a:ext cx="3048000" cy="190500"/>
            <a:chOff x="0" y="-28575"/>
            <a:chExt cx="3048000" cy="190500"/>
          </a:xfrm>
        </p:grpSpPr>
        <p:sp>
          <p:nvSpPr>
            <p:cNvPr id="63" name="Google Shape;63;p14"/>
            <p:cNvSpPr/>
            <p:nvPr/>
          </p:nvSpPr>
          <p:spPr>
            <a:xfrm>
              <a:off x="0" y="0"/>
              <a:ext cx="114300" cy="114300"/>
            </a:xfrm>
            <a:prstGeom prst="roundRect">
              <a:avLst>
                <a:gd name="adj" fmla="val 16666"/>
              </a:avLst>
            </a:prstGeom>
            <a:solidFill>
              <a:srgbClr val="3182C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4" name="Google Shape;64;p14"/>
            <p:cNvSpPr txBox="1"/>
            <p:nvPr/>
          </p:nvSpPr>
          <p:spPr>
            <a:xfrm>
              <a:off x="190500" y="-28575"/>
              <a:ext cx="28575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000">
                  <a:solidFill>
                    <a:srgbClr val="718096"/>
                  </a:solidFill>
                  <a:latin typeface="Arial"/>
                  <a:ea typeface="Arial"/>
                  <a:cs typeface="Arial"/>
                  <a:sym typeface="Arial"/>
                </a:rPr>
                <a:t>EXECUTIVE LEADERSHIP BRIEFING</a:t>
              </a:r>
              <a:endParaRPr sz="1000">
                <a:solidFill>
                  <a:srgbClr val="718096"/>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8"/>
        <p:cNvGrpSpPr/>
        <p:nvPr/>
      </p:nvGrpSpPr>
      <p:grpSpPr>
        <a:xfrm>
          <a:off x="0" y="0"/>
          <a:ext cx="0" cy="0"/>
          <a:chOff x="0" y="0"/>
          <a:chExt cx="0" cy="0"/>
        </a:xfrm>
      </p:grpSpPr>
      <p:pic>
        <p:nvPicPr>
          <p:cNvPr id="69" name="Google Shape;69;p15"/>
          <p:cNvPicPr preferRelativeResize="0"/>
          <p:nvPr/>
        </p:nvPicPr>
        <p:blipFill rotWithShape="1">
          <a:blip r:embed="rId4">
            <a:alphaModFix/>
          </a:blip>
          <a:srcRect l="387" t="20370" r="387" b="42593"/>
          <a:stretch/>
        </p:blipFill>
        <p:spPr>
          <a:xfrm>
            <a:off x="0" y="0"/>
            <a:ext cx="9144000" cy="1905000"/>
          </a:xfrm>
          <a:prstGeom prst="roundRect">
            <a:avLst>
              <a:gd name="adj" fmla="val 0"/>
            </a:avLst>
          </a:prstGeom>
          <a:noFill/>
          <a:ln>
            <a:noFill/>
          </a:ln>
        </p:spPr>
      </p:pic>
      <p:sp>
        <p:nvSpPr>
          <p:cNvPr id="70" name="Google Shape;70;p15"/>
          <p:cNvSpPr/>
          <p:nvPr/>
        </p:nvSpPr>
        <p:spPr>
          <a:xfrm>
            <a:off x="0" y="0"/>
            <a:ext cx="9144000" cy="1905000"/>
          </a:xfrm>
          <a:prstGeom prst="rect">
            <a:avLst/>
          </a:prstGeom>
          <a:solidFill>
            <a:srgbClr val="1A365D">
              <a:alpha val="1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1" name="Google Shape;71;p15"/>
          <p:cNvSpPr/>
          <p:nvPr/>
        </p:nvSpPr>
        <p:spPr>
          <a:xfrm>
            <a:off x="0" y="1857375"/>
            <a:ext cx="9144000" cy="47700"/>
          </a:xfrm>
          <a:prstGeom prst="rect">
            <a:avLst/>
          </a:prstGeom>
          <a:solidFill>
            <a:srgbClr val="3182C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2" name="Google Shape;72;p15"/>
          <p:cNvSpPr txBox="1"/>
          <p:nvPr/>
        </p:nvSpPr>
        <p:spPr>
          <a:xfrm>
            <a:off x="571500" y="2095500"/>
            <a:ext cx="80010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2960" b="1">
                <a:solidFill>
                  <a:srgbClr val="1A365D"/>
                </a:solidFill>
                <a:latin typeface="Helvetica Neue"/>
                <a:ea typeface="Helvetica Neue"/>
                <a:cs typeface="Helvetica Neue"/>
                <a:sym typeface="Helvetica Neue"/>
              </a:rPr>
              <a:t>Summary of Key Issues</a:t>
            </a:r>
            <a:endParaRPr sz="2960" b="1">
              <a:solidFill>
                <a:srgbClr val="1A365D"/>
              </a:solidFill>
              <a:latin typeface="Helvetica Neue"/>
              <a:ea typeface="Helvetica Neue"/>
              <a:cs typeface="Helvetica Neue"/>
              <a:sym typeface="Helvetica Neue"/>
            </a:endParaRPr>
          </a:p>
        </p:txBody>
      </p:sp>
      <p:sp>
        <p:nvSpPr>
          <p:cNvPr id="73" name="Google Shape;73;p15"/>
          <p:cNvSpPr txBox="1"/>
          <p:nvPr/>
        </p:nvSpPr>
        <p:spPr>
          <a:xfrm>
            <a:off x="571500" y="2571750"/>
            <a:ext cx="8001000" cy="285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600" b="0">
                <a:solidFill>
                  <a:srgbClr val="4A5568"/>
                </a:solidFill>
                <a:latin typeface="Helvetica Neue Light"/>
                <a:ea typeface="Helvetica Neue Light"/>
                <a:cs typeface="Helvetica Neue Light"/>
                <a:sym typeface="Helvetica Neue Light"/>
              </a:rPr>
              <a:t>Critical bottlenecks compromising quality and regulatory standing</a:t>
            </a:r>
            <a:endParaRPr sz="1600" b="0">
              <a:solidFill>
                <a:srgbClr val="4A5568"/>
              </a:solidFill>
              <a:latin typeface="Helvetica Neue Light"/>
              <a:ea typeface="Helvetica Neue Light"/>
              <a:cs typeface="Helvetica Neue Light"/>
              <a:sym typeface="Helvetica Neue Light"/>
            </a:endParaRPr>
          </a:p>
        </p:txBody>
      </p:sp>
      <p:pic>
        <p:nvPicPr>
          <p:cNvPr id="74" name="Google Shape;74;p15"/>
          <p:cNvPicPr preferRelativeResize="0"/>
          <p:nvPr/>
        </p:nvPicPr>
        <p:blipFill rotWithShape="1">
          <a:blip r:embed="rId5">
            <a:alphaModFix/>
          </a:blip>
          <a:srcRect/>
          <a:stretch/>
        </p:blipFill>
        <p:spPr>
          <a:xfrm>
            <a:off x="490538" y="2986088"/>
            <a:ext cx="2638500" cy="1876500"/>
          </a:xfrm>
          <a:prstGeom prst="rect">
            <a:avLst/>
          </a:prstGeom>
          <a:noFill/>
          <a:ln>
            <a:noFill/>
          </a:ln>
        </p:spPr>
      </p:pic>
      <p:sp>
        <p:nvSpPr>
          <p:cNvPr id="75" name="Google Shape;75;p15"/>
          <p:cNvSpPr/>
          <p:nvPr/>
        </p:nvSpPr>
        <p:spPr>
          <a:xfrm>
            <a:off x="571500" y="3048000"/>
            <a:ext cx="47700" cy="1714500"/>
          </a:xfrm>
          <a:prstGeom prst="rect">
            <a:avLst/>
          </a:prstGeom>
          <a:solidFill>
            <a:srgbClr val="3182C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6" name="Google Shape;76;p15"/>
          <p:cNvSpPr txBox="1"/>
          <p:nvPr/>
        </p:nvSpPr>
        <p:spPr>
          <a:xfrm>
            <a:off x="714375" y="3190875"/>
            <a:ext cx="2190900" cy="1428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295" b="1">
                <a:solidFill>
                  <a:srgbClr val="3182CE"/>
                </a:solidFill>
                <a:latin typeface="Helvetica Neue"/>
                <a:ea typeface="Helvetica Neue"/>
                <a:cs typeface="Helvetica Neue"/>
                <a:sym typeface="Helvetica Neue"/>
              </a:rPr>
              <a:t>BIND567 Failures</a:t>
            </a:r>
            <a:endParaRPr sz="1295" b="1">
              <a:solidFill>
                <a:srgbClr val="3182CE"/>
              </a:solidFill>
              <a:latin typeface="Helvetica Neue"/>
              <a:ea typeface="Helvetica Neue"/>
              <a:cs typeface="Helvetica Neue"/>
              <a:sym typeface="Helvetica Neue"/>
            </a:endParaRPr>
          </a:p>
          <a:p>
            <a:pPr marL="0" lvl="0" indent="0" algn="l" rtl="0">
              <a:spcBef>
                <a:spcPts val="600"/>
              </a:spcBef>
              <a:spcAft>
                <a:spcPts val="0"/>
              </a:spcAft>
              <a:buNone/>
            </a:pPr>
            <a:r>
              <a:rPr lang="en-GB" sz="1018" b="0">
                <a:solidFill>
                  <a:srgbClr val="2D3748"/>
                </a:solidFill>
                <a:latin typeface="Arial"/>
                <a:ea typeface="Arial"/>
                <a:cs typeface="Arial"/>
                <a:sym typeface="Arial"/>
              </a:rPr>
              <a:t>Quality control failures and molecular inconsistencies identified in recent batches.</a:t>
            </a:r>
            <a:endParaRPr sz="1018" b="0">
              <a:solidFill>
                <a:srgbClr val="2D3748"/>
              </a:solidFill>
              <a:latin typeface="Arial"/>
              <a:ea typeface="Arial"/>
              <a:cs typeface="Arial"/>
              <a:sym typeface="Arial"/>
            </a:endParaRPr>
          </a:p>
          <a:p>
            <a:pPr marL="0" lvl="0" indent="0" algn="l" rtl="0">
              <a:spcBef>
                <a:spcPts val="1125"/>
              </a:spcBef>
              <a:spcAft>
                <a:spcPts val="0"/>
              </a:spcAft>
              <a:buNone/>
            </a:pPr>
            <a:r>
              <a:rPr lang="en-GB" sz="1110" b="1">
                <a:solidFill>
                  <a:srgbClr val="E53E3E"/>
                </a:solidFill>
                <a:latin typeface="Helvetica Neue"/>
                <a:ea typeface="Helvetica Neue"/>
                <a:cs typeface="Helvetica Neue"/>
                <a:sym typeface="Helvetica Neue"/>
              </a:rPr>
              <a:t>IMPACT</a:t>
            </a:r>
            <a:endParaRPr sz="1110" b="1">
              <a:solidFill>
                <a:srgbClr val="E53E3E"/>
              </a:solidFill>
              <a:latin typeface="Helvetica Neue"/>
              <a:ea typeface="Helvetica Neue"/>
              <a:cs typeface="Helvetica Neue"/>
              <a:sym typeface="Helvetica Neue"/>
            </a:endParaRPr>
          </a:p>
          <a:p>
            <a:pPr marL="0" lvl="0" indent="0" algn="l" rtl="0">
              <a:spcBef>
                <a:spcPts val="0"/>
              </a:spcBef>
              <a:spcAft>
                <a:spcPts val="0"/>
              </a:spcAft>
              <a:buNone/>
            </a:pPr>
            <a:r>
              <a:rPr lang="en-GB" sz="1018" b="0">
                <a:solidFill>
                  <a:srgbClr val="718096"/>
                </a:solidFill>
                <a:latin typeface="Arial"/>
                <a:ea typeface="Arial"/>
                <a:cs typeface="Arial"/>
                <a:sym typeface="Arial"/>
              </a:rPr>
              <a:t>Production delays and batch rejections.</a:t>
            </a:r>
            <a:endParaRPr sz="1018" b="0">
              <a:solidFill>
                <a:srgbClr val="718096"/>
              </a:solidFill>
              <a:latin typeface="Arial"/>
              <a:ea typeface="Arial"/>
              <a:cs typeface="Arial"/>
              <a:sym typeface="Arial"/>
            </a:endParaRPr>
          </a:p>
        </p:txBody>
      </p:sp>
      <p:pic>
        <p:nvPicPr>
          <p:cNvPr id="77" name="Google Shape;77;p15"/>
          <p:cNvPicPr preferRelativeResize="0"/>
          <p:nvPr/>
        </p:nvPicPr>
        <p:blipFill rotWithShape="1">
          <a:blip r:embed="rId5">
            <a:alphaModFix/>
          </a:blip>
          <a:srcRect/>
          <a:stretch/>
        </p:blipFill>
        <p:spPr>
          <a:xfrm>
            <a:off x="3252788" y="2986088"/>
            <a:ext cx="2638500" cy="1876500"/>
          </a:xfrm>
          <a:prstGeom prst="rect">
            <a:avLst/>
          </a:prstGeom>
          <a:noFill/>
          <a:ln>
            <a:noFill/>
          </a:ln>
        </p:spPr>
      </p:pic>
      <p:sp>
        <p:nvSpPr>
          <p:cNvPr id="78" name="Google Shape;78;p15"/>
          <p:cNvSpPr/>
          <p:nvPr/>
        </p:nvSpPr>
        <p:spPr>
          <a:xfrm>
            <a:off x="3333750" y="3048000"/>
            <a:ext cx="47700" cy="1714500"/>
          </a:xfrm>
          <a:prstGeom prst="rect">
            <a:avLst/>
          </a:prstGeom>
          <a:solidFill>
            <a:srgbClr val="3182C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9" name="Google Shape;79;p15"/>
          <p:cNvSpPr txBox="1"/>
          <p:nvPr/>
        </p:nvSpPr>
        <p:spPr>
          <a:xfrm>
            <a:off x="3476625" y="3190875"/>
            <a:ext cx="2190900" cy="1428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295" b="1">
                <a:solidFill>
                  <a:srgbClr val="3182CE"/>
                </a:solidFill>
                <a:latin typeface="Helvetica Neue"/>
                <a:ea typeface="Helvetica Neue"/>
                <a:cs typeface="Helvetica Neue"/>
                <a:sym typeface="Helvetica Neue"/>
              </a:rPr>
              <a:t>COMP042 Deficiencies</a:t>
            </a:r>
            <a:endParaRPr sz="1295" b="1">
              <a:solidFill>
                <a:srgbClr val="3182CE"/>
              </a:solidFill>
              <a:latin typeface="Helvetica Neue"/>
              <a:ea typeface="Helvetica Neue"/>
              <a:cs typeface="Helvetica Neue"/>
              <a:sym typeface="Helvetica Neue"/>
            </a:endParaRPr>
          </a:p>
          <a:p>
            <a:pPr marL="0" lvl="0" indent="0" algn="l" rtl="0">
              <a:spcBef>
                <a:spcPts val="600"/>
              </a:spcBef>
              <a:spcAft>
                <a:spcPts val="0"/>
              </a:spcAft>
              <a:buNone/>
            </a:pPr>
            <a:r>
              <a:rPr lang="en-GB" sz="1018" b="0">
                <a:solidFill>
                  <a:srgbClr val="2D3748"/>
                </a:solidFill>
                <a:latin typeface="Arial"/>
                <a:ea typeface="Arial"/>
                <a:cs typeface="Arial"/>
                <a:sym typeface="Arial"/>
              </a:rPr>
              <a:t>Critical traceability and documentation gaps discovered in supply logs.</a:t>
            </a:r>
            <a:endParaRPr sz="1018" b="0">
              <a:solidFill>
                <a:srgbClr val="2D3748"/>
              </a:solidFill>
              <a:latin typeface="Arial"/>
              <a:ea typeface="Arial"/>
              <a:cs typeface="Arial"/>
              <a:sym typeface="Arial"/>
            </a:endParaRPr>
          </a:p>
          <a:p>
            <a:pPr marL="0" lvl="0" indent="0" algn="l" rtl="0">
              <a:spcBef>
                <a:spcPts val="1125"/>
              </a:spcBef>
              <a:spcAft>
                <a:spcPts val="0"/>
              </a:spcAft>
              <a:buNone/>
            </a:pPr>
            <a:r>
              <a:rPr lang="en-GB" sz="1110" b="1">
                <a:solidFill>
                  <a:srgbClr val="E53E3E"/>
                </a:solidFill>
                <a:latin typeface="Helvetica Neue"/>
                <a:ea typeface="Helvetica Neue"/>
                <a:cs typeface="Helvetica Neue"/>
                <a:sym typeface="Helvetica Neue"/>
              </a:rPr>
              <a:t>IMPACT</a:t>
            </a:r>
            <a:endParaRPr sz="1110" b="1">
              <a:solidFill>
                <a:srgbClr val="E53E3E"/>
              </a:solidFill>
              <a:latin typeface="Helvetica Neue"/>
              <a:ea typeface="Helvetica Neue"/>
              <a:cs typeface="Helvetica Neue"/>
              <a:sym typeface="Helvetica Neue"/>
            </a:endParaRPr>
          </a:p>
          <a:p>
            <a:pPr marL="0" lvl="0" indent="0" algn="l" rtl="0">
              <a:spcBef>
                <a:spcPts val="0"/>
              </a:spcBef>
              <a:spcAft>
                <a:spcPts val="0"/>
              </a:spcAft>
              <a:buNone/>
            </a:pPr>
            <a:r>
              <a:rPr lang="en-GB" sz="1018" b="0">
                <a:solidFill>
                  <a:srgbClr val="718096"/>
                </a:solidFill>
                <a:latin typeface="Arial"/>
                <a:ea typeface="Arial"/>
                <a:cs typeface="Arial"/>
                <a:sym typeface="Arial"/>
              </a:rPr>
              <a:t>Severe FDA compliance and audit risks.</a:t>
            </a:r>
            <a:endParaRPr sz="1018" b="0">
              <a:solidFill>
                <a:srgbClr val="718096"/>
              </a:solidFill>
              <a:latin typeface="Arial"/>
              <a:ea typeface="Arial"/>
              <a:cs typeface="Arial"/>
              <a:sym typeface="Arial"/>
            </a:endParaRPr>
          </a:p>
        </p:txBody>
      </p:sp>
      <p:pic>
        <p:nvPicPr>
          <p:cNvPr id="80" name="Google Shape;80;p15"/>
          <p:cNvPicPr preferRelativeResize="0"/>
          <p:nvPr/>
        </p:nvPicPr>
        <p:blipFill rotWithShape="1">
          <a:blip r:embed="rId5">
            <a:alphaModFix/>
          </a:blip>
          <a:srcRect/>
          <a:stretch/>
        </p:blipFill>
        <p:spPr>
          <a:xfrm>
            <a:off x="6015038" y="2986088"/>
            <a:ext cx="2638500" cy="1876500"/>
          </a:xfrm>
          <a:prstGeom prst="rect">
            <a:avLst/>
          </a:prstGeom>
          <a:noFill/>
          <a:ln>
            <a:noFill/>
          </a:ln>
        </p:spPr>
      </p:pic>
      <p:sp>
        <p:nvSpPr>
          <p:cNvPr id="81" name="Google Shape;81;p15"/>
          <p:cNvSpPr/>
          <p:nvPr/>
        </p:nvSpPr>
        <p:spPr>
          <a:xfrm>
            <a:off x="6096000" y="3048000"/>
            <a:ext cx="47700" cy="1714500"/>
          </a:xfrm>
          <a:prstGeom prst="rect">
            <a:avLst/>
          </a:prstGeom>
          <a:solidFill>
            <a:srgbClr val="3182C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2" name="Google Shape;82;p15"/>
          <p:cNvSpPr txBox="1"/>
          <p:nvPr/>
        </p:nvSpPr>
        <p:spPr>
          <a:xfrm>
            <a:off x="6238875" y="3190875"/>
            <a:ext cx="2190900" cy="1428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295" b="1">
                <a:solidFill>
                  <a:srgbClr val="3182CE"/>
                </a:solidFill>
                <a:latin typeface="Helvetica Neue"/>
                <a:ea typeface="Helvetica Neue"/>
                <a:cs typeface="Helvetica Neue"/>
                <a:sym typeface="Helvetica Neue"/>
              </a:rPr>
              <a:t>COMP043 Violations</a:t>
            </a:r>
            <a:endParaRPr sz="1295" b="1">
              <a:solidFill>
                <a:srgbClr val="3182CE"/>
              </a:solidFill>
              <a:latin typeface="Helvetica Neue"/>
              <a:ea typeface="Helvetica Neue"/>
              <a:cs typeface="Helvetica Neue"/>
              <a:sym typeface="Helvetica Neue"/>
            </a:endParaRPr>
          </a:p>
          <a:p>
            <a:pPr marL="0" lvl="0" indent="0" algn="l" rtl="0">
              <a:spcBef>
                <a:spcPts val="600"/>
              </a:spcBef>
              <a:spcAft>
                <a:spcPts val="0"/>
              </a:spcAft>
              <a:buNone/>
            </a:pPr>
            <a:r>
              <a:rPr lang="en-GB" sz="1018" b="0">
                <a:solidFill>
                  <a:srgbClr val="2D3748"/>
                </a:solidFill>
                <a:latin typeface="Arial"/>
                <a:ea typeface="Arial"/>
                <a:cs typeface="Arial"/>
                <a:sym typeface="Arial"/>
              </a:rPr>
              <a:t>GMP compliance violations coupled with frequent stockout events.</a:t>
            </a:r>
            <a:endParaRPr sz="1018" b="0">
              <a:solidFill>
                <a:srgbClr val="2D3748"/>
              </a:solidFill>
              <a:latin typeface="Arial"/>
              <a:ea typeface="Arial"/>
              <a:cs typeface="Arial"/>
              <a:sym typeface="Arial"/>
            </a:endParaRPr>
          </a:p>
          <a:p>
            <a:pPr marL="0" lvl="0" indent="0" algn="l" rtl="0">
              <a:spcBef>
                <a:spcPts val="1125"/>
              </a:spcBef>
              <a:spcAft>
                <a:spcPts val="0"/>
              </a:spcAft>
              <a:buNone/>
            </a:pPr>
            <a:r>
              <a:rPr lang="en-GB" sz="1110" b="1">
                <a:solidFill>
                  <a:srgbClr val="E53E3E"/>
                </a:solidFill>
                <a:latin typeface="Helvetica Neue"/>
                <a:ea typeface="Helvetica Neue"/>
                <a:cs typeface="Helvetica Neue"/>
                <a:sym typeface="Helvetica Neue"/>
              </a:rPr>
              <a:t>IMPACT</a:t>
            </a:r>
            <a:endParaRPr sz="1110" b="1">
              <a:solidFill>
                <a:srgbClr val="E53E3E"/>
              </a:solidFill>
              <a:latin typeface="Helvetica Neue"/>
              <a:ea typeface="Helvetica Neue"/>
              <a:cs typeface="Helvetica Neue"/>
              <a:sym typeface="Helvetica Neue"/>
            </a:endParaRPr>
          </a:p>
          <a:p>
            <a:pPr marL="0" lvl="0" indent="0" algn="l" rtl="0">
              <a:spcBef>
                <a:spcPts val="0"/>
              </a:spcBef>
              <a:spcAft>
                <a:spcPts val="0"/>
              </a:spcAft>
              <a:buNone/>
            </a:pPr>
            <a:r>
              <a:rPr lang="en-GB" sz="1018" b="0">
                <a:solidFill>
                  <a:srgbClr val="718096"/>
                </a:solidFill>
                <a:latin typeface="Arial"/>
                <a:ea typeface="Arial"/>
                <a:cs typeface="Arial"/>
                <a:sym typeface="Arial"/>
              </a:rPr>
              <a:t>Major operational and market disruptions.</a:t>
            </a:r>
            <a:endParaRPr sz="1018" b="0">
              <a:solidFill>
                <a:srgbClr val="718096"/>
              </a:solidFill>
              <a:latin typeface="Arial"/>
              <a:ea typeface="Arial"/>
              <a:cs typeface="Arial"/>
              <a:sym typeface="Arial"/>
            </a:endParaRPr>
          </a:p>
        </p:txBody>
      </p:sp>
      <p:sp>
        <p:nvSpPr>
          <p:cNvPr id="83" name="Google Shape;83;p15"/>
          <p:cNvSpPr/>
          <p:nvPr/>
        </p:nvSpPr>
        <p:spPr>
          <a:xfrm>
            <a:off x="571500" y="4857750"/>
            <a:ext cx="114300" cy="114300"/>
          </a:xfrm>
          <a:prstGeom prst="roundRect">
            <a:avLst>
              <a:gd name="adj" fmla="val 16666"/>
            </a:avLst>
          </a:prstGeom>
          <a:solidFill>
            <a:srgbClr val="3182C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4" name="Google Shape;84;p15"/>
          <p:cNvSpPr txBox="1"/>
          <p:nvPr/>
        </p:nvSpPr>
        <p:spPr>
          <a:xfrm>
            <a:off x="762000" y="4829175"/>
            <a:ext cx="28575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000">
                <a:solidFill>
                  <a:srgbClr val="718096"/>
                </a:solidFill>
                <a:latin typeface="Arial"/>
                <a:ea typeface="Arial"/>
                <a:cs typeface="Arial"/>
                <a:sym typeface="Arial"/>
              </a:rPr>
              <a:t>EXECUTIVE LEADERSHIP BRIEFING</a:t>
            </a:r>
            <a:endParaRPr sz="1000">
              <a:solidFill>
                <a:srgbClr val="718096"/>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8"/>
        <p:cNvGrpSpPr/>
        <p:nvPr/>
      </p:nvGrpSpPr>
      <p:grpSpPr>
        <a:xfrm>
          <a:off x="0" y="0"/>
          <a:ext cx="0" cy="0"/>
          <a:chOff x="0" y="0"/>
          <a:chExt cx="0" cy="0"/>
        </a:xfrm>
      </p:grpSpPr>
      <p:pic>
        <p:nvPicPr>
          <p:cNvPr id="89" name="Google Shape;89;p16"/>
          <p:cNvPicPr preferRelativeResize="0"/>
          <p:nvPr/>
        </p:nvPicPr>
        <p:blipFill rotWithShape="1">
          <a:blip r:embed="rId3">
            <a:alphaModFix/>
          </a:blip>
          <a:srcRect/>
          <a:stretch/>
        </p:blipFill>
        <p:spPr>
          <a:xfrm>
            <a:off x="0" y="0"/>
            <a:ext cx="9144000" cy="1905000"/>
          </a:xfrm>
          <a:prstGeom prst="rect">
            <a:avLst/>
          </a:prstGeom>
          <a:noFill/>
          <a:ln>
            <a:noFill/>
          </a:ln>
        </p:spPr>
      </p:pic>
      <p:sp>
        <p:nvSpPr>
          <p:cNvPr id="90" name="Google Shape;90;p16"/>
          <p:cNvSpPr/>
          <p:nvPr/>
        </p:nvSpPr>
        <p:spPr>
          <a:xfrm>
            <a:off x="0" y="1857375"/>
            <a:ext cx="9144000" cy="47700"/>
          </a:xfrm>
          <a:prstGeom prst="rect">
            <a:avLst/>
          </a:prstGeom>
          <a:solidFill>
            <a:srgbClr val="3182C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1" name="Google Shape;91;p16"/>
          <p:cNvSpPr txBox="1"/>
          <p:nvPr/>
        </p:nvSpPr>
        <p:spPr>
          <a:xfrm>
            <a:off x="386025" y="175050"/>
            <a:ext cx="80010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3000" b="1">
                <a:solidFill>
                  <a:srgbClr val="1A365D"/>
                </a:solidFill>
                <a:latin typeface="Helvetica Neue"/>
                <a:ea typeface="Helvetica Neue"/>
                <a:cs typeface="Helvetica Neue"/>
                <a:sym typeface="Helvetica Neue"/>
              </a:rPr>
              <a:t>Data Insights from Excel Analysis</a:t>
            </a:r>
            <a:endParaRPr sz="3000" b="1">
              <a:solidFill>
                <a:srgbClr val="1A365D"/>
              </a:solidFill>
              <a:latin typeface="Helvetica Neue"/>
              <a:ea typeface="Helvetica Neue"/>
              <a:cs typeface="Helvetica Neue"/>
              <a:sym typeface="Helvetica Neue"/>
            </a:endParaRPr>
          </a:p>
        </p:txBody>
      </p:sp>
      <p:sp>
        <p:nvSpPr>
          <p:cNvPr id="92" name="Google Shape;92;p16"/>
          <p:cNvSpPr txBox="1"/>
          <p:nvPr/>
        </p:nvSpPr>
        <p:spPr>
          <a:xfrm>
            <a:off x="440550" y="1349650"/>
            <a:ext cx="8001000" cy="285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600" b="0">
                <a:solidFill>
                  <a:srgbClr val="4A5568"/>
                </a:solidFill>
                <a:latin typeface="Helvetica Neue Light"/>
                <a:ea typeface="Helvetica Neue Light"/>
                <a:cs typeface="Helvetica Neue Light"/>
                <a:sym typeface="Helvetica Neue Light"/>
              </a:rPr>
              <a:t>Medium-risk components experience the longest delivery timeline</a:t>
            </a:r>
            <a:endParaRPr sz="1600" b="0">
              <a:solidFill>
                <a:srgbClr val="4A5568"/>
              </a:solidFill>
              <a:latin typeface="Helvetica Neue Light"/>
              <a:ea typeface="Helvetica Neue Light"/>
              <a:cs typeface="Helvetica Neue Light"/>
              <a:sym typeface="Helvetica Neue Light"/>
            </a:endParaRPr>
          </a:p>
        </p:txBody>
      </p:sp>
      <p:grpSp>
        <p:nvGrpSpPr>
          <p:cNvPr id="93" name="Google Shape;93;p16"/>
          <p:cNvGrpSpPr/>
          <p:nvPr/>
        </p:nvGrpSpPr>
        <p:grpSpPr>
          <a:xfrm>
            <a:off x="571500" y="2571750"/>
            <a:ext cx="8001000" cy="2143275"/>
            <a:chOff x="571500" y="2381250"/>
            <a:chExt cx="8001000" cy="2143275"/>
          </a:xfrm>
        </p:grpSpPr>
        <p:pic>
          <p:nvPicPr>
            <p:cNvPr id="94" name="Google Shape;94;p16"/>
            <p:cNvPicPr preferRelativeResize="0"/>
            <p:nvPr/>
          </p:nvPicPr>
          <p:blipFill rotWithShape="1">
            <a:blip r:embed="rId4">
              <a:alphaModFix/>
            </a:blip>
            <a:srcRect/>
            <a:stretch/>
          </p:blipFill>
          <p:spPr>
            <a:xfrm>
              <a:off x="3233738" y="3043238"/>
              <a:ext cx="2676600" cy="1438200"/>
            </a:xfrm>
            <a:prstGeom prst="rect">
              <a:avLst/>
            </a:prstGeom>
            <a:noFill/>
            <a:ln>
              <a:noFill/>
            </a:ln>
          </p:spPr>
        </p:pic>
        <p:grpSp>
          <p:nvGrpSpPr>
            <p:cNvPr id="95" name="Google Shape;95;p16"/>
            <p:cNvGrpSpPr/>
            <p:nvPr/>
          </p:nvGrpSpPr>
          <p:grpSpPr>
            <a:xfrm>
              <a:off x="952500" y="2762250"/>
              <a:ext cx="1714500" cy="1762275"/>
              <a:chOff x="952500" y="2762250"/>
              <a:chExt cx="1714500" cy="1762275"/>
            </a:xfrm>
          </p:grpSpPr>
          <p:sp>
            <p:nvSpPr>
              <p:cNvPr id="96" name="Google Shape;96;p16"/>
              <p:cNvSpPr/>
              <p:nvPr/>
            </p:nvSpPr>
            <p:spPr>
              <a:xfrm rot="10800000" flipH="1">
                <a:off x="952500" y="3119400"/>
                <a:ext cx="1714500" cy="1071600"/>
              </a:xfrm>
              <a:prstGeom prst="roundRect">
                <a:avLst>
                  <a:gd name="adj" fmla="val 50000"/>
                </a:avLst>
              </a:prstGeom>
              <a:solidFill>
                <a:srgbClr val="E53E3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7" name="Google Shape;97;p16"/>
              <p:cNvSpPr txBox="1"/>
              <p:nvPr/>
            </p:nvSpPr>
            <p:spPr>
              <a:xfrm>
                <a:off x="952500" y="4238625"/>
                <a:ext cx="17145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1400" b="1">
                    <a:solidFill>
                      <a:srgbClr val="2D3748"/>
                    </a:solidFill>
                    <a:latin typeface="Arial"/>
                    <a:ea typeface="Arial"/>
                    <a:cs typeface="Arial"/>
                    <a:sym typeface="Arial"/>
                  </a:rPr>
                  <a:t>High Risk</a:t>
                </a:r>
                <a:endParaRPr sz="1400" b="1">
                  <a:solidFill>
                    <a:srgbClr val="2D3748"/>
                  </a:solidFill>
                  <a:latin typeface="Arial"/>
                  <a:ea typeface="Arial"/>
                  <a:cs typeface="Arial"/>
                  <a:sym typeface="Arial"/>
                </a:endParaRPr>
              </a:p>
            </p:txBody>
          </p:sp>
          <p:sp>
            <p:nvSpPr>
              <p:cNvPr id="98" name="Google Shape;98;p16"/>
              <p:cNvSpPr txBox="1"/>
              <p:nvPr/>
            </p:nvSpPr>
            <p:spPr>
              <a:xfrm>
                <a:off x="952500" y="2762250"/>
                <a:ext cx="17145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2400" b="1">
                    <a:solidFill>
                      <a:srgbClr val="E53E3E"/>
                    </a:solidFill>
                    <a:latin typeface="Helvetica Neue"/>
                    <a:ea typeface="Helvetica Neue"/>
                    <a:cs typeface="Helvetica Neue"/>
                    <a:sym typeface="Helvetica Neue"/>
                  </a:rPr>
                  <a:t>11.25d</a:t>
                </a:r>
                <a:endParaRPr sz="2400" b="1">
                  <a:solidFill>
                    <a:srgbClr val="E53E3E"/>
                  </a:solidFill>
                  <a:latin typeface="Helvetica Neue"/>
                  <a:ea typeface="Helvetica Neue"/>
                  <a:cs typeface="Helvetica Neue"/>
                  <a:sym typeface="Helvetica Neue"/>
                </a:endParaRPr>
              </a:p>
            </p:txBody>
          </p:sp>
        </p:grpSp>
        <p:grpSp>
          <p:nvGrpSpPr>
            <p:cNvPr id="99" name="Google Shape;99;p16"/>
            <p:cNvGrpSpPr/>
            <p:nvPr/>
          </p:nvGrpSpPr>
          <p:grpSpPr>
            <a:xfrm>
              <a:off x="3714750" y="2381250"/>
              <a:ext cx="1714500" cy="2143275"/>
              <a:chOff x="3714750" y="2381250"/>
              <a:chExt cx="1714500" cy="2143275"/>
            </a:xfrm>
          </p:grpSpPr>
          <p:sp>
            <p:nvSpPr>
              <p:cNvPr id="100" name="Google Shape;100;p16"/>
              <p:cNvSpPr/>
              <p:nvPr/>
            </p:nvSpPr>
            <p:spPr>
              <a:xfrm rot="10800000" flipH="1">
                <a:off x="3714750" y="2749800"/>
                <a:ext cx="1714500" cy="1441200"/>
              </a:xfrm>
              <a:prstGeom prst="roundRect">
                <a:avLst>
                  <a:gd name="adj" fmla="val 50000"/>
                </a:avLst>
              </a:prstGeom>
              <a:solidFill>
                <a:srgbClr val="3182C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1" name="Google Shape;101;p16"/>
              <p:cNvSpPr txBox="1"/>
              <p:nvPr/>
            </p:nvSpPr>
            <p:spPr>
              <a:xfrm>
                <a:off x="3714750" y="4238625"/>
                <a:ext cx="17145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1400" b="1">
                    <a:solidFill>
                      <a:srgbClr val="2D3748"/>
                    </a:solidFill>
                    <a:latin typeface="Arial"/>
                    <a:ea typeface="Arial"/>
                    <a:cs typeface="Arial"/>
                    <a:sym typeface="Arial"/>
                  </a:rPr>
                  <a:t>Medium Risk</a:t>
                </a:r>
                <a:endParaRPr sz="1400" b="1">
                  <a:solidFill>
                    <a:srgbClr val="2D3748"/>
                  </a:solidFill>
                  <a:latin typeface="Arial"/>
                  <a:ea typeface="Arial"/>
                  <a:cs typeface="Arial"/>
                  <a:sym typeface="Arial"/>
                </a:endParaRPr>
              </a:p>
            </p:txBody>
          </p:sp>
          <p:sp>
            <p:nvSpPr>
              <p:cNvPr id="102" name="Google Shape;102;p16"/>
              <p:cNvSpPr txBox="1"/>
              <p:nvPr/>
            </p:nvSpPr>
            <p:spPr>
              <a:xfrm>
                <a:off x="3714750" y="2381250"/>
                <a:ext cx="17145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2400" b="1">
                    <a:solidFill>
                      <a:srgbClr val="3182CE"/>
                    </a:solidFill>
                    <a:latin typeface="Helvetica Neue"/>
                    <a:ea typeface="Helvetica Neue"/>
                    <a:cs typeface="Helvetica Neue"/>
                    <a:sym typeface="Helvetica Neue"/>
                  </a:rPr>
                  <a:t>15.13d</a:t>
                </a:r>
                <a:endParaRPr sz="2400" b="1">
                  <a:solidFill>
                    <a:srgbClr val="3182CE"/>
                  </a:solidFill>
                  <a:latin typeface="Helvetica Neue"/>
                  <a:ea typeface="Helvetica Neue"/>
                  <a:cs typeface="Helvetica Neue"/>
                  <a:sym typeface="Helvetica Neue"/>
                </a:endParaRPr>
              </a:p>
            </p:txBody>
          </p:sp>
        </p:grpSp>
        <p:grpSp>
          <p:nvGrpSpPr>
            <p:cNvPr id="103" name="Google Shape;103;p16"/>
            <p:cNvGrpSpPr/>
            <p:nvPr/>
          </p:nvGrpSpPr>
          <p:grpSpPr>
            <a:xfrm>
              <a:off x="6477000" y="2619375"/>
              <a:ext cx="1714500" cy="1905150"/>
              <a:chOff x="6477000" y="2619375"/>
              <a:chExt cx="1714500" cy="1905150"/>
            </a:xfrm>
          </p:grpSpPr>
          <p:sp>
            <p:nvSpPr>
              <p:cNvPr id="104" name="Google Shape;104;p16"/>
              <p:cNvSpPr/>
              <p:nvPr/>
            </p:nvSpPr>
            <p:spPr>
              <a:xfrm rot="10800000" flipH="1">
                <a:off x="6477000" y="2966100"/>
                <a:ext cx="1714500" cy="1224900"/>
              </a:xfrm>
              <a:prstGeom prst="roundRect">
                <a:avLst>
                  <a:gd name="adj" fmla="val 50000"/>
                </a:avLst>
              </a:prstGeom>
              <a:solidFill>
                <a:srgbClr val="48BB78"/>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5" name="Google Shape;105;p16"/>
              <p:cNvSpPr txBox="1"/>
              <p:nvPr/>
            </p:nvSpPr>
            <p:spPr>
              <a:xfrm>
                <a:off x="6477000" y="4238625"/>
                <a:ext cx="17145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1400" b="1">
                    <a:solidFill>
                      <a:srgbClr val="2D3748"/>
                    </a:solidFill>
                    <a:latin typeface="Arial"/>
                    <a:ea typeface="Arial"/>
                    <a:cs typeface="Arial"/>
                    <a:sym typeface="Arial"/>
                  </a:rPr>
                  <a:t>Low Risk</a:t>
                </a:r>
                <a:endParaRPr sz="1400" b="1">
                  <a:solidFill>
                    <a:srgbClr val="2D3748"/>
                  </a:solidFill>
                  <a:latin typeface="Arial"/>
                  <a:ea typeface="Arial"/>
                  <a:cs typeface="Arial"/>
                  <a:sym typeface="Arial"/>
                </a:endParaRPr>
              </a:p>
            </p:txBody>
          </p:sp>
          <p:sp>
            <p:nvSpPr>
              <p:cNvPr id="106" name="Google Shape;106;p16"/>
              <p:cNvSpPr txBox="1"/>
              <p:nvPr/>
            </p:nvSpPr>
            <p:spPr>
              <a:xfrm>
                <a:off x="6477000" y="2619375"/>
                <a:ext cx="17145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2400" b="1">
                    <a:solidFill>
                      <a:srgbClr val="48BB78"/>
                    </a:solidFill>
                    <a:latin typeface="Helvetica Neue"/>
                    <a:ea typeface="Helvetica Neue"/>
                    <a:cs typeface="Helvetica Neue"/>
                    <a:sym typeface="Helvetica Neue"/>
                  </a:rPr>
                  <a:t>12.86d</a:t>
                </a:r>
                <a:endParaRPr sz="2400" b="1">
                  <a:solidFill>
                    <a:srgbClr val="48BB78"/>
                  </a:solidFill>
                  <a:latin typeface="Helvetica Neue"/>
                  <a:ea typeface="Helvetica Neue"/>
                  <a:cs typeface="Helvetica Neue"/>
                  <a:sym typeface="Helvetica Neue"/>
                </a:endParaRPr>
              </a:p>
            </p:txBody>
          </p:sp>
        </p:grpSp>
        <p:cxnSp>
          <p:nvCxnSpPr>
            <p:cNvPr id="107" name="Google Shape;107;p16"/>
            <p:cNvCxnSpPr/>
            <p:nvPr/>
          </p:nvCxnSpPr>
          <p:spPr>
            <a:xfrm>
              <a:off x="571500" y="4191000"/>
              <a:ext cx="8001000" cy="0"/>
            </a:xfrm>
            <a:prstGeom prst="straightConnector1">
              <a:avLst/>
            </a:prstGeom>
            <a:solidFill>
              <a:srgbClr val="FFFFFF"/>
            </a:solidFill>
            <a:ln w="19050" cap="flat" cmpd="sng">
              <a:solidFill>
                <a:srgbClr val="CBD5E0"/>
              </a:solidFill>
              <a:prstDash val="solid"/>
              <a:round/>
              <a:headEnd type="none" w="sm" len="sm"/>
              <a:tailEnd type="none" w="sm" len="sm"/>
            </a:ln>
          </p:spPr>
        </p:cxnSp>
      </p:grpSp>
      <p:sp>
        <p:nvSpPr>
          <p:cNvPr id="108" name="Google Shape;108;p16"/>
          <p:cNvSpPr/>
          <p:nvPr/>
        </p:nvSpPr>
        <p:spPr>
          <a:xfrm>
            <a:off x="571500" y="4857750"/>
            <a:ext cx="114300" cy="114300"/>
          </a:xfrm>
          <a:prstGeom prst="roundRect">
            <a:avLst>
              <a:gd name="adj" fmla="val 16666"/>
            </a:avLst>
          </a:prstGeom>
          <a:solidFill>
            <a:srgbClr val="3182C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9" name="Google Shape;109;p16"/>
          <p:cNvSpPr txBox="1"/>
          <p:nvPr/>
        </p:nvSpPr>
        <p:spPr>
          <a:xfrm>
            <a:off x="762000" y="4829175"/>
            <a:ext cx="28575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000" b="0">
                <a:solidFill>
                  <a:srgbClr val="718096"/>
                </a:solidFill>
                <a:latin typeface="Arial"/>
                <a:ea typeface="Arial"/>
                <a:cs typeface="Arial"/>
                <a:sym typeface="Arial"/>
              </a:rPr>
              <a:t>EXECUTIVE LEADERSHIP BRIEFING</a:t>
            </a:r>
            <a:endParaRPr sz="1000" b="0">
              <a:solidFill>
                <a:srgbClr val="718096"/>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114" name="Google Shape;114;p17"/>
          <p:cNvPicPr preferRelativeResize="0"/>
          <p:nvPr/>
        </p:nvPicPr>
        <p:blipFill rotWithShape="1">
          <a:blip r:embed="rId3">
            <a:alphaModFix/>
          </a:blip>
          <a:srcRect/>
          <a:stretch/>
        </p:blipFill>
        <p:spPr>
          <a:xfrm>
            <a:off x="0" y="0"/>
            <a:ext cx="9144000" cy="1905000"/>
          </a:xfrm>
          <a:prstGeom prst="rect">
            <a:avLst/>
          </a:prstGeom>
          <a:noFill/>
          <a:ln>
            <a:noFill/>
          </a:ln>
        </p:spPr>
      </p:pic>
      <p:sp>
        <p:nvSpPr>
          <p:cNvPr id="115" name="Google Shape;115;p17"/>
          <p:cNvSpPr/>
          <p:nvPr/>
        </p:nvSpPr>
        <p:spPr>
          <a:xfrm>
            <a:off x="0" y="1857375"/>
            <a:ext cx="9144000" cy="47700"/>
          </a:xfrm>
          <a:prstGeom prst="rect">
            <a:avLst/>
          </a:prstGeom>
          <a:solidFill>
            <a:srgbClr val="3182C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6" name="Google Shape;116;p17"/>
          <p:cNvSpPr txBox="1"/>
          <p:nvPr/>
        </p:nvSpPr>
        <p:spPr>
          <a:xfrm>
            <a:off x="244150" y="123825"/>
            <a:ext cx="80010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2900" b="1">
                <a:solidFill>
                  <a:srgbClr val="1A365D"/>
                </a:solidFill>
                <a:latin typeface="Helvetica Neue"/>
                <a:ea typeface="Helvetica Neue"/>
                <a:cs typeface="Helvetica Neue"/>
                <a:sym typeface="Helvetica Neue"/>
              </a:rPr>
              <a:t>Data Insights from Excel Analysis</a:t>
            </a:r>
            <a:endParaRPr sz="2900" b="1">
              <a:solidFill>
                <a:srgbClr val="1A365D"/>
              </a:solidFill>
              <a:latin typeface="Helvetica Neue"/>
              <a:ea typeface="Helvetica Neue"/>
              <a:cs typeface="Helvetica Neue"/>
              <a:sym typeface="Helvetica Neue"/>
            </a:endParaRPr>
          </a:p>
        </p:txBody>
      </p:sp>
      <p:sp>
        <p:nvSpPr>
          <p:cNvPr id="117" name="Google Shape;117;p17"/>
          <p:cNvSpPr txBox="1"/>
          <p:nvPr/>
        </p:nvSpPr>
        <p:spPr>
          <a:xfrm>
            <a:off x="571500" y="2571750"/>
            <a:ext cx="8001000" cy="285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600" b="0">
                <a:solidFill>
                  <a:srgbClr val="4A5568"/>
                </a:solidFill>
                <a:latin typeface="Helvetica Neue Light"/>
                <a:ea typeface="Helvetica Neue Light"/>
                <a:cs typeface="Helvetica Neue Light"/>
                <a:sym typeface="Helvetica Neue Light"/>
              </a:rPr>
              <a:t>COAT890 identified as the lowest-performing component in on-time delivery</a:t>
            </a:r>
            <a:endParaRPr sz="1600" b="0">
              <a:solidFill>
                <a:srgbClr val="4A5568"/>
              </a:solidFill>
              <a:latin typeface="Helvetica Neue Light"/>
              <a:ea typeface="Helvetica Neue Light"/>
              <a:cs typeface="Helvetica Neue Light"/>
              <a:sym typeface="Helvetica Neue Light"/>
            </a:endParaRPr>
          </a:p>
        </p:txBody>
      </p:sp>
      <p:grpSp>
        <p:nvGrpSpPr>
          <p:cNvPr id="118" name="Google Shape;118;p17"/>
          <p:cNvGrpSpPr/>
          <p:nvPr/>
        </p:nvGrpSpPr>
        <p:grpSpPr>
          <a:xfrm>
            <a:off x="952500" y="2714625"/>
            <a:ext cx="7239000" cy="1857525"/>
            <a:chOff x="952500" y="2714625"/>
            <a:chExt cx="7239000" cy="1857525"/>
          </a:xfrm>
        </p:grpSpPr>
        <p:sp>
          <p:nvSpPr>
            <p:cNvPr id="119" name="Google Shape;119;p17"/>
            <p:cNvSpPr/>
            <p:nvPr/>
          </p:nvSpPr>
          <p:spPr>
            <a:xfrm>
              <a:off x="952500" y="4191000"/>
              <a:ext cx="7239000" cy="19200"/>
            </a:xfrm>
            <a:prstGeom prst="rect">
              <a:avLst/>
            </a:prstGeom>
            <a:solidFill>
              <a:srgbClr val="CBD5E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120" name="Google Shape;120;p17"/>
            <p:cNvGrpSpPr/>
            <p:nvPr/>
          </p:nvGrpSpPr>
          <p:grpSpPr>
            <a:xfrm>
              <a:off x="1428750" y="2714625"/>
              <a:ext cx="1143000" cy="1857525"/>
              <a:chOff x="1428750" y="2714625"/>
              <a:chExt cx="1143000" cy="1857525"/>
            </a:xfrm>
          </p:grpSpPr>
          <p:sp>
            <p:nvSpPr>
              <p:cNvPr id="121" name="Google Shape;121;p17"/>
              <p:cNvSpPr/>
              <p:nvPr/>
            </p:nvSpPr>
            <p:spPr>
              <a:xfrm>
                <a:off x="1428750" y="3048000"/>
                <a:ext cx="1143000" cy="1143000"/>
              </a:xfrm>
              <a:prstGeom prst="roundRect">
                <a:avLst>
                  <a:gd name="adj" fmla="val 3333"/>
                </a:avLst>
              </a:prstGeom>
              <a:solidFill>
                <a:srgbClr val="3182C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2" name="Google Shape;122;p17"/>
              <p:cNvSpPr txBox="1"/>
              <p:nvPr/>
            </p:nvSpPr>
            <p:spPr>
              <a:xfrm>
                <a:off x="1428750" y="2714625"/>
                <a:ext cx="1143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1870" b="1">
                    <a:solidFill>
                      <a:srgbClr val="1A365D"/>
                    </a:solidFill>
                    <a:latin typeface="Helvetica Neue"/>
                    <a:ea typeface="Helvetica Neue"/>
                    <a:cs typeface="Helvetica Neue"/>
                    <a:sym typeface="Helvetica Neue"/>
                  </a:rPr>
                  <a:t>99.00%</a:t>
                </a:r>
                <a:endParaRPr sz="1870" b="1">
                  <a:solidFill>
                    <a:srgbClr val="1A365D"/>
                  </a:solidFill>
                  <a:latin typeface="Helvetica Neue"/>
                  <a:ea typeface="Helvetica Neue"/>
                  <a:cs typeface="Helvetica Neue"/>
                  <a:sym typeface="Helvetica Neue"/>
                </a:endParaRPr>
              </a:p>
            </p:txBody>
          </p:sp>
          <p:sp>
            <p:nvSpPr>
              <p:cNvPr id="123" name="Google Shape;123;p17"/>
              <p:cNvSpPr txBox="1"/>
              <p:nvPr/>
            </p:nvSpPr>
            <p:spPr>
              <a:xfrm>
                <a:off x="1428750" y="4286250"/>
                <a:ext cx="1143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1400" b="1">
                    <a:solidFill>
                      <a:srgbClr val="2D3748"/>
                    </a:solidFill>
                    <a:latin typeface="Arial"/>
                    <a:ea typeface="Arial"/>
                    <a:cs typeface="Arial"/>
                    <a:sym typeface="Arial"/>
                  </a:rPr>
                  <a:t>BIND567</a:t>
                </a:r>
                <a:endParaRPr sz="1400" b="1">
                  <a:solidFill>
                    <a:srgbClr val="2D3748"/>
                  </a:solidFill>
                  <a:latin typeface="Arial"/>
                  <a:ea typeface="Arial"/>
                  <a:cs typeface="Arial"/>
                  <a:sym typeface="Arial"/>
                </a:endParaRPr>
              </a:p>
            </p:txBody>
          </p:sp>
        </p:grpSp>
        <p:grpSp>
          <p:nvGrpSpPr>
            <p:cNvPr id="124" name="Google Shape;124;p17"/>
            <p:cNvGrpSpPr/>
            <p:nvPr/>
          </p:nvGrpSpPr>
          <p:grpSpPr>
            <a:xfrm>
              <a:off x="4000500" y="2819400"/>
              <a:ext cx="1143000" cy="1752750"/>
              <a:chOff x="4000500" y="2819400"/>
              <a:chExt cx="1143000" cy="1752750"/>
            </a:xfrm>
          </p:grpSpPr>
          <p:sp>
            <p:nvSpPr>
              <p:cNvPr id="125" name="Google Shape;125;p17"/>
              <p:cNvSpPr/>
              <p:nvPr/>
            </p:nvSpPr>
            <p:spPr>
              <a:xfrm>
                <a:off x="4000500" y="3152775"/>
                <a:ext cx="1143000" cy="1038300"/>
              </a:xfrm>
              <a:prstGeom prst="roundRect">
                <a:avLst>
                  <a:gd name="adj" fmla="val 3669"/>
                </a:avLst>
              </a:prstGeom>
              <a:solidFill>
                <a:srgbClr val="3182C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6" name="Google Shape;126;p17"/>
              <p:cNvSpPr txBox="1"/>
              <p:nvPr/>
            </p:nvSpPr>
            <p:spPr>
              <a:xfrm>
                <a:off x="4000500" y="2819400"/>
                <a:ext cx="1143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1870" b="1">
                    <a:solidFill>
                      <a:srgbClr val="1A365D"/>
                    </a:solidFill>
                    <a:latin typeface="Helvetica Neue"/>
                    <a:ea typeface="Helvetica Neue"/>
                    <a:cs typeface="Helvetica Neue"/>
                    <a:sym typeface="Helvetica Neue"/>
                  </a:rPr>
                  <a:t>90.25%</a:t>
                </a:r>
                <a:endParaRPr sz="1870" b="1">
                  <a:solidFill>
                    <a:srgbClr val="1A365D"/>
                  </a:solidFill>
                  <a:latin typeface="Helvetica Neue"/>
                  <a:ea typeface="Helvetica Neue"/>
                  <a:cs typeface="Helvetica Neue"/>
                  <a:sym typeface="Helvetica Neue"/>
                </a:endParaRPr>
              </a:p>
            </p:txBody>
          </p:sp>
          <p:sp>
            <p:nvSpPr>
              <p:cNvPr id="127" name="Google Shape;127;p17"/>
              <p:cNvSpPr txBox="1"/>
              <p:nvPr/>
            </p:nvSpPr>
            <p:spPr>
              <a:xfrm>
                <a:off x="4000500" y="4286250"/>
                <a:ext cx="1143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1400" b="1">
                    <a:solidFill>
                      <a:srgbClr val="2D3748"/>
                    </a:solidFill>
                    <a:latin typeface="Arial"/>
                    <a:ea typeface="Arial"/>
                    <a:cs typeface="Arial"/>
                    <a:sym typeface="Arial"/>
                  </a:rPr>
                  <a:t>CARB123</a:t>
                </a:r>
                <a:endParaRPr sz="1400" b="1">
                  <a:solidFill>
                    <a:srgbClr val="2D3748"/>
                  </a:solidFill>
                  <a:latin typeface="Arial"/>
                  <a:ea typeface="Arial"/>
                  <a:cs typeface="Arial"/>
                  <a:sym typeface="Arial"/>
                </a:endParaRPr>
              </a:p>
            </p:txBody>
          </p:sp>
        </p:grpSp>
        <p:grpSp>
          <p:nvGrpSpPr>
            <p:cNvPr id="128" name="Google Shape;128;p17"/>
            <p:cNvGrpSpPr/>
            <p:nvPr/>
          </p:nvGrpSpPr>
          <p:grpSpPr>
            <a:xfrm>
              <a:off x="6572250" y="2886075"/>
              <a:ext cx="1143000" cy="1686075"/>
              <a:chOff x="6572250" y="2886075"/>
              <a:chExt cx="1143000" cy="1686075"/>
            </a:xfrm>
          </p:grpSpPr>
          <p:sp>
            <p:nvSpPr>
              <p:cNvPr id="129" name="Google Shape;129;p17"/>
              <p:cNvSpPr/>
              <p:nvPr/>
            </p:nvSpPr>
            <p:spPr>
              <a:xfrm>
                <a:off x="6572250" y="3219450"/>
                <a:ext cx="1143000" cy="971700"/>
              </a:xfrm>
              <a:prstGeom prst="roundRect">
                <a:avLst>
                  <a:gd name="adj" fmla="val 3921"/>
                </a:avLst>
              </a:prstGeom>
              <a:solidFill>
                <a:srgbClr val="E53E3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30" name="Google Shape;130;p17"/>
              <p:cNvSpPr txBox="1"/>
              <p:nvPr/>
            </p:nvSpPr>
            <p:spPr>
              <a:xfrm>
                <a:off x="6572250" y="2886075"/>
                <a:ext cx="1143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1870" b="1">
                    <a:solidFill>
                      <a:srgbClr val="E53E3E"/>
                    </a:solidFill>
                    <a:latin typeface="Helvetica Neue"/>
                    <a:ea typeface="Helvetica Neue"/>
                    <a:cs typeface="Helvetica Neue"/>
                    <a:sym typeface="Helvetica Neue"/>
                  </a:rPr>
                  <a:t>84.20%</a:t>
                </a:r>
                <a:endParaRPr sz="1870" b="1">
                  <a:solidFill>
                    <a:srgbClr val="E53E3E"/>
                  </a:solidFill>
                  <a:latin typeface="Helvetica Neue"/>
                  <a:ea typeface="Helvetica Neue"/>
                  <a:cs typeface="Helvetica Neue"/>
                  <a:sym typeface="Helvetica Neue"/>
                </a:endParaRPr>
              </a:p>
            </p:txBody>
          </p:sp>
          <p:sp>
            <p:nvSpPr>
              <p:cNvPr id="131" name="Google Shape;131;p17"/>
              <p:cNvSpPr txBox="1"/>
              <p:nvPr/>
            </p:nvSpPr>
            <p:spPr>
              <a:xfrm>
                <a:off x="6572250" y="4286250"/>
                <a:ext cx="1143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1400" b="1">
                    <a:solidFill>
                      <a:srgbClr val="E53E3E"/>
                    </a:solidFill>
                    <a:latin typeface="Arial"/>
                    <a:ea typeface="Arial"/>
                    <a:cs typeface="Arial"/>
                    <a:sym typeface="Arial"/>
                  </a:rPr>
                  <a:t>COAT890</a:t>
                </a:r>
                <a:endParaRPr sz="1400" b="1">
                  <a:solidFill>
                    <a:srgbClr val="E53E3E"/>
                  </a:solidFill>
                  <a:latin typeface="Arial"/>
                  <a:ea typeface="Arial"/>
                  <a:cs typeface="Arial"/>
                  <a:sym typeface="Arial"/>
                </a:endParaRPr>
              </a:p>
            </p:txBody>
          </p:sp>
        </p:grpSp>
      </p:grpSp>
      <p:sp>
        <p:nvSpPr>
          <p:cNvPr id="132" name="Google Shape;132;p17"/>
          <p:cNvSpPr/>
          <p:nvPr/>
        </p:nvSpPr>
        <p:spPr>
          <a:xfrm>
            <a:off x="571500" y="4857750"/>
            <a:ext cx="114300" cy="114300"/>
          </a:xfrm>
          <a:prstGeom prst="roundRect">
            <a:avLst>
              <a:gd name="adj" fmla="val 16666"/>
            </a:avLst>
          </a:prstGeom>
          <a:solidFill>
            <a:srgbClr val="3182C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33" name="Google Shape;133;p17"/>
          <p:cNvSpPr txBox="1"/>
          <p:nvPr/>
        </p:nvSpPr>
        <p:spPr>
          <a:xfrm>
            <a:off x="762000" y="4829175"/>
            <a:ext cx="28575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000" b="0">
                <a:solidFill>
                  <a:srgbClr val="718096"/>
                </a:solidFill>
                <a:latin typeface="Arial"/>
                <a:ea typeface="Arial"/>
                <a:cs typeface="Arial"/>
                <a:sym typeface="Arial"/>
              </a:rPr>
              <a:t>EXECUTIVE LEADERSHIP BRIEFING</a:t>
            </a:r>
            <a:endParaRPr sz="1000" b="0">
              <a:solidFill>
                <a:srgbClr val="718096"/>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pic>
        <p:nvPicPr>
          <p:cNvPr id="138" name="Google Shape;138;p18"/>
          <p:cNvPicPr preferRelativeResize="0"/>
          <p:nvPr/>
        </p:nvPicPr>
        <p:blipFill rotWithShape="1">
          <a:blip r:embed="rId3">
            <a:alphaModFix/>
          </a:blip>
          <a:srcRect/>
          <a:stretch/>
        </p:blipFill>
        <p:spPr>
          <a:xfrm>
            <a:off x="0" y="0"/>
            <a:ext cx="9144000" cy="1905000"/>
          </a:xfrm>
          <a:prstGeom prst="rect">
            <a:avLst/>
          </a:prstGeom>
          <a:noFill/>
          <a:ln>
            <a:noFill/>
          </a:ln>
        </p:spPr>
      </p:pic>
      <p:sp>
        <p:nvSpPr>
          <p:cNvPr id="139" name="Google Shape;139;p18"/>
          <p:cNvSpPr/>
          <p:nvPr/>
        </p:nvSpPr>
        <p:spPr>
          <a:xfrm>
            <a:off x="0" y="1857375"/>
            <a:ext cx="9144000" cy="47700"/>
          </a:xfrm>
          <a:prstGeom prst="rect">
            <a:avLst/>
          </a:prstGeom>
          <a:solidFill>
            <a:srgbClr val="3182C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40" name="Google Shape;140;p18"/>
          <p:cNvSpPr txBox="1"/>
          <p:nvPr/>
        </p:nvSpPr>
        <p:spPr>
          <a:xfrm>
            <a:off x="381000" y="190500"/>
            <a:ext cx="80010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3000" b="1">
                <a:solidFill>
                  <a:srgbClr val="1A365D"/>
                </a:solidFill>
                <a:latin typeface="Helvetica Neue"/>
                <a:ea typeface="Helvetica Neue"/>
                <a:cs typeface="Helvetica Neue"/>
                <a:sym typeface="Helvetica Neue"/>
              </a:rPr>
              <a:t>Data Insights from Excel Analysis</a:t>
            </a:r>
            <a:endParaRPr sz="3000" b="1">
              <a:solidFill>
                <a:srgbClr val="1A365D"/>
              </a:solidFill>
              <a:latin typeface="Helvetica Neue"/>
              <a:ea typeface="Helvetica Neue"/>
              <a:cs typeface="Helvetica Neue"/>
              <a:sym typeface="Helvetica Neue"/>
            </a:endParaRPr>
          </a:p>
        </p:txBody>
      </p:sp>
      <p:sp>
        <p:nvSpPr>
          <p:cNvPr id="141" name="Google Shape;141;p18"/>
          <p:cNvSpPr txBox="1"/>
          <p:nvPr/>
        </p:nvSpPr>
        <p:spPr>
          <a:xfrm>
            <a:off x="381000" y="1333500"/>
            <a:ext cx="80010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600" b="0">
                <a:solidFill>
                  <a:srgbClr val="4A5568"/>
                </a:solidFill>
                <a:latin typeface="Helvetica Neue Light"/>
                <a:ea typeface="Helvetica Neue Light"/>
                <a:cs typeface="Helvetica Neue Light"/>
                <a:sym typeface="Helvetica Neue Light"/>
              </a:rPr>
              <a:t>Supplier reliability remains strong across the top 5 partners</a:t>
            </a:r>
            <a:endParaRPr sz="1600" b="0">
              <a:solidFill>
                <a:srgbClr val="4A5568"/>
              </a:solidFill>
              <a:latin typeface="Helvetica Neue Light"/>
              <a:ea typeface="Helvetica Neue Light"/>
              <a:cs typeface="Helvetica Neue Light"/>
              <a:sym typeface="Helvetica Neue Light"/>
            </a:endParaRPr>
          </a:p>
        </p:txBody>
      </p:sp>
      <p:grpSp>
        <p:nvGrpSpPr>
          <p:cNvPr id="142" name="Google Shape;142;p18"/>
          <p:cNvGrpSpPr/>
          <p:nvPr/>
        </p:nvGrpSpPr>
        <p:grpSpPr>
          <a:xfrm>
            <a:off x="381000" y="2238375"/>
            <a:ext cx="7334250" cy="285900"/>
            <a:chOff x="381000" y="2238375"/>
            <a:chExt cx="7334250" cy="285900"/>
          </a:xfrm>
        </p:grpSpPr>
        <p:sp>
          <p:nvSpPr>
            <p:cNvPr id="143" name="Google Shape;143;p18"/>
            <p:cNvSpPr/>
            <p:nvPr/>
          </p:nvSpPr>
          <p:spPr>
            <a:xfrm>
              <a:off x="2095500" y="2238375"/>
              <a:ext cx="5324400" cy="285900"/>
            </a:xfrm>
            <a:prstGeom prst="roundRect">
              <a:avLst>
                <a:gd name="adj" fmla="val 13333"/>
              </a:avLst>
            </a:prstGeom>
            <a:solidFill>
              <a:srgbClr val="E2E8F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44" name="Google Shape;144;p18"/>
            <p:cNvSpPr/>
            <p:nvPr/>
          </p:nvSpPr>
          <p:spPr>
            <a:xfrm>
              <a:off x="2095500" y="2238375"/>
              <a:ext cx="4962600" cy="285900"/>
            </a:xfrm>
            <a:prstGeom prst="roundRect">
              <a:avLst>
                <a:gd name="adj" fmla="val 13333"/>
              </a:avLst>
            </a:prstGeom>
            <a:solidFill>
              <a:srgbClr val="3182C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45" name="Google Shape;145;p18"/>
            <p:cNvSpPr txBox="1"/>
            <p:nvPr/>
          </p:nvSpPr>
          <p:spPr>
            <a:xfrm>
              <a:off x="381000" y="2238375"/>
              <a:ext cx="1619100" cy="2859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GB" sz="1200" b="1">
                  <a:solidFill>
                    <a:srgbClr val="2D3748"/>
                  </a:solidFill>
                  <a:latin typeface="Arial"/>
                  <a:ea typeface="Arial"/>
                  <a:cs typeface="Arial"/>
                  <a:sym typeface="Arial"/>
                </a:rPr>
                <a:t>EcoSupply</a:t>
              </a:r>
              <a:endParaRPr sz="1200" b="1">
                <a:solidFill>
                  <a:srgbClr val="2D3748"/>
                </a:solidFill>
                <a:latin typeface="Arial"/>
                <a:ea typeface="Arial"/>
                <a:cs typeface="Arial"/>
                <a:sym typeface="Arial"/>
              </a:endParaRPr>
            </a:p>
          </p:txBody>
        </p:sp>
        <p:sp>
          <p:nvSpPr>
            <p:cNvPr id="146" name="Google Shape;146;p18"/>
            <p:cNvSpPr txBox="1"/>
            <p:nvPr/>
          </p:nvSpPr>
          <p:spPr>
            <a:xfrm>
              <a:off x="7143750" y="2238375"/>
              <a:ext cx="571500" cy="28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200" b="1">
                  <a:solidFill>
                    <a:srgbClr val="3182CE"/>
                  </a:solidFill>
                  <a:latin typeface="Helvetica Neue"/>
                  <a:ea typeface="Helvetica Neue"/>
                  <a:cs typeface="Helvetica Neue"/>
                  <a:sym typeface="Helvetica Neue"/>
                </a:rPr>
                <a:t>93.20%</a:t>
              </a:r>
              <a:endParaRPr sz="1200" b="1">
                <a:solidFill>
                  <a:srgbClr val="3182CE"/>
                </a:solidFill>
                <a:latin typeface="Helvetica Neue"/>
                <a:ea typeface="Helvetica Neue"/>
                <a:cs typeface="Helvetica Neue"/>
                <a:sym typeface="Helvetica Neue"/>
              </a:endParaRPr>
            </a:p>
          </p:txBody>
        </p:sp>
      </p:grpSp>
      <p:grpSp>
        <p:nvGrpSpPr>
          <p:cNvPr id="147" name="Google Shape;147;p18"/>
          <p:cNvGrpSpPr/>
          <p:nvPr/>
        </p:nvGrpSpPr>
        <p:grpSpPr>
          <a:xfrm>
            <a:off x="381000" y="2619375"/>
            <a:ext cx="7334250" cy="285900"/>
            <a:chOff x="381000" y="2619375"/>
            <a:chExt cx="7334250" cy="285900"/>
          </a:xfrm>
        </p:grpSpPr>
        <p:sp>
          <p:nvSpPr>
            <p:cNvPr id="148" name="Google Shape;148;p18"/>
            <p:cNvSpPr/>
            <p:nvPr/>
          </p:nvSpPr>
          <p:spPr>
            <a:xfrm>
              <a:off x="2095500" y="2619375"/>
              <a:ext cx="5324400" cy="285900"/>
            </a:xfrm>
            <a:prstGeom prst="roundRect">
              <a:avLst>
                <a:gd name="adj" fmla="val 13333"/>
              </a:avLst>
            </a:prstGeom>
            <a:solidFill>
              <a:srgbClr val="E2E8F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49" name="Google Shape;149;p18"/>
            <p:cNvSpPr/>
            <p:nvPr/>
          </p:nvSpPr>
          <p:spPr>
            <a:xfrm>
              <a:off x="2095500" y="2619375"/>
              <a:ext cx="4943400" cy="285900"/>
            </a:xfrm>
            <a:prstGeom prst="roundRect">
              <a:avLst>
                <a:gd name="adj" fmla="val 13333"/>
              </a:avLst>
            </a:prstGeom>
            <a:solidFill>
              <a:srgbClr val="3182C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50" name="Google Shape;150;p18"/>
            <p:cNvSpPr txBox="1"/>
            <p:nvPr/>
          </p:nvSpPr>
          <p:spPr>
            <a:xfrm>
              <a:off x="381000" y="2619375"/>
              <a:ext cx="1619100" cy="2859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GB" sz="1200" b="1">
                  <a:solidFill>
                    <a:srgbClr val="2D3748"/>
                  </a:solidFill>
                  <a:latin typeface="Arial"/>
                  <a:ea typeface="Arial"/>
                  <a:cs typeface="Arial"/>
                  <a:sym typeface="Arial"/>
                </a:rPr>
                <a:t>RawMatPlus</a:t>
              </a:r>
              <a:endParaRPr sz="1200" b="1">
                <a:solidFill>
                  <a:srgbClr val="2D3748"/>
                </a:solidFill>
                <a:latin typeface="Arial"/>
                <a:ea typeface="Arial"/>
                <a:cs typeface="Arial"/>
                <a:sym typeface="Arial"/>
              </a:endParaRPr>
            </a:p>
          </p:txBody>
        </p:sp>
        <p:sp>
          <p:nvSpPr>
            <p:cNvPr id="151" name="Google Shape;151;p18"/>
            <p:cNvSpPr txBox="1"/>
            <p:nvPr/>
          </p:nvSpPr>
          <p:spPr>
            <a:xfrm>
              <a:off x="7143750" y="2619375"/>
              <a:ext cx="571500" cy="28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200" b="1">
                  <a:solidFill>
                    <a:srgbClr val="3182CE"/>
                  </a:solidFill>
                  <a:latin typeface="Helvetica Neue"/>
                  <a:ea typeface="Helvetica Neue"/>
                  <a:cs typeface="Helvetica Neue"/>
                  <a:sym typeface="Helvetica Neue"/>
                </a:rPr>
                <a:t>92.85%</a:t>
              </a:r>
              <a:endParaRPr sz="1200" b="1">
                <a:solidFill>
                  <a:srgbClr val="3182CE"/>
                </a:solidFill>
                <a:latin typeface="Helvetica Neue"/>
                <a:ea typeface="Helvetica Neue"/>
                <a:cs typeface="Helvetica Neue"/>
                <a:sym typeface="Helvetica Neue"/>
              </a:endParaRPr>
            </a:p>
          </p:txBody>
        </p:sp>
      </p:grpSp>
      <p:grpSp>
        <p:nvGrpSpPr>
          <p:cNvPr id="152" name="Google Shape;152;p18"/>
          <p:cNvGrpSpPr/>
          <p:nvPr/>
        </p:nvGrpSpPr>
        <p:grpSpPr>
          <a:xfrm>
            <a:off x="381000" y="3000375"/>
            <a:ext cx="7334250" cy="285900"/>
            <a:chOff x="381000" y="3000375"/>
            <a:chExt cx="7334250" cy="285900"/>
          </a:xfrm>
        </p:grpSpPr>
        <p:sp>
          <p:nvSpPr>
            <p:cNvPr id="153" name="Google Shape;153;p18"/>
            <p:cNvSpPr/>
            <p:nvPr/>
          </p:nvSpPr>
          <p:spPr>
            <a:xfrm>
              <a:off x="2095500" y="3000375"/>
              <a:ext cx="5324400" cy="285900"/>
            </a:xfrm>
            <a:prstGeom prst="roundRect">
              <a:avLst>
                <a:gd name="adj" fmla="val 13333"/>
              </a:avLst>
            </a:prstGeom>
            <a:solidFill>
              <a:srgbClr val="E2E8F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54" name="Google Shape;154;p18"/>
            <p:cNvSpPr/>
            <p:nvPr/>
          </p:nvSpPr>
          <p:spPr>
            <a:xfrm>
              <a:off x="2095500" y="3000375"/>
              <a:ext cx="4924500" cy="285900"/>
            </a:xfrm>
            <a:prstGeom prst="roundRect">
              <a:avLst>
                <a:gd name="adj" fmla="val 13333"/>
              </a:avLst>
            </a:prstGeom>
            <a:solidFill>
              <a:srgbClr val="3182C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55" name="Google Shape;155;p18"/>
            <p:cNvSpPr txBox="1"/>
            <p:nvPr/>
          </p:nvSpPr>
          <p:spPr>
            <a:xfrm>
              <a:off x="381000" y="3000375"/>
              <a:ext cx="1619100" cy="2859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GB" sz="1200" b="1">
                  <a:solidFill>
                    <a:srgbClr val="2D3748"/>
                  </a:solidFill>
                  <a:latin typeface="Arial"/>
                  <a:ea typeface="Arial"/>
                  <a:cs typeface="Arial"/>
                  <a:sym typeface="Arial"/>
                </a:rPr>
                <a:t>GlobalChem</a:t>
              </a:r>
              <a:endParaRPr sz="1200" b="1">
                <a:solidFill>
                  <a:srgbClr val="2D3748"/>
                </a:solidFill>
                <a:latin typeface="Arial"/>
                <a:ea typeface="Arial"/>
                <a:cs typeface="Arial"/>
                <a:sym typeface="Arial"/>
              </a:endParaRPr>
            </a:p>
          </p:txBody>
        </p:sp>
        <p:sp>
          <p:nvSpPr>
            <p:cNvPr id="156" name="Google Shape;156;p18"/>
            <p:cNvSpPr txBox="1"/>
            <p:nvPr/>
          </p:nvSpPr>
          <p:spPr>
            <a:xfrm>
              <a:off x="7143750" y="3000375"/>
              <a:ext cx="571500" cy="28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200" b="1">
                  <a:solidFill>
                    <a:srgbClr val="3182CE"/>
                  </a:solidFill>
                  <a:latin typeface="Helvetica Neue"/>
                  <a:ea typeface="Helvetica Neue"/>
                  <a:cs typeface="Helvetica Neue"/>
                  <a:sym typeface="Helvetica Neue"/>
                </a:rPr>
                <a:t>92.56%</a:t>
              </a:r>
              <a:endParaRPr sz="1200" b="1">
                <a:solidFill>
                  <a:srgbClr val="3182CE"/>
                </a:solidFill>
                <a:latin typeface="Helvetica Neue"/>
                <a:ea typeface="Helvetica Neue"/>
                <a:cs typeface="Helvetica Neue"/>
                <a:sym typeface="Helvetica Neue"/>
              </a:endParaRPr>
            </a:p>
          </p:txBody>
        </p:sp>
      </p:grpSp>
      <p:grpSp>
        <p:nvGrpSpPr>
          <p:cNvPr id="157" name="Google Shape;157;p18"/>
          <p:cNvGrpSpPr/>
          <p:nvPr/>
        </p:nvGrpSpPr>
        <p:grpSpPr>
          <a:xfrm>
            <a:off x="381000" y="3381375"/>
            <a:ext cx="7334250" cy="285900"/>
            <a:chOff x="381000" y="3381375"/>
            <a:chExt cx="7334250" cy="285900"/>
          </a:xfrm>
        </p:grpSpPr>
        <p:sp>
          <p:nvSpPr>
            <p:cNvPr id="158" name="Google Shape;158;p18"/>
            <p:cNvSpPr/>
            <p:nvPr/>
          </p:nvSpPr>
          <p:spPr>
            <a:xfrm>
              <a:off x="2095500" y="3381375"/>
              <a:ext cx="5324400" cy="285900"/>
            </a:xfrm>
            <a:prstGeom prst="roundRect">
              <a:avLst>
                <a:gd name="adj" fmla="val 13333"/>
              </a:avLst>
            </a:prstGeom>
            <a:solidFill>
              <a:srgbClr val="E2E8F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59" name="Google Shape;159;p18"/>
            <p:cNvSpPr/>
            <p:nvPr/>
          </p:nvSpPr>
          <p:spPr>
            <a:xfrm>
              <a:off x="2095500" y="3381375"/>
              <a:ext cx="4886400" cy="285900"/>
            </a:xfrm>
            <a:prstGeom prst="roundRect">
              <a:avLst>
                <a:gd name="adj" fmla="val 13333"/>
              </a:avLst>
            </a:prstGeom>
            <a:solidFill>
              <a:srgbClr val="3182C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60" name="Google Shape;160;p18"/>
            <p:cNvSpPr txBox="1"/>
            <p:nvPr/>
          </p:nvSpPr>
          <p:spPr>
            <a:xfrm>
              <a:off x="381000" y="3381375"/>
              <a:ext cx="1619100" cy="2859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GB" sz="1200" b="1">
                  <a:solidFill>
                    <a:srgbClr val="2D3748"/>
                  </a:solidFill>
                  <a:latin typeface="Arial"/>
                  <a:ea typeface="Arial"/>
                  <a:cs typeface="Arial"/>
                  <a:sym typeface="Arial"/>
                </a:rPr>
                <a:t>NextGen Pharma</a:t>
              </a:r>
              <a:endParaRPr sz="1200" b="1">
                <a:solidFill>
                  <a:srgbClr val="2D3748"/>
                </a:solidFill>
                <a:latin typeface="Arial"/>
                <a:ea typeface="Arial"/>
                <a:cs typeface="Arial"/>
                <a:sym typeface="Arial"/>
              </a:endParaRPr>
            </a:p>
          </p:txBody>
        </p:sp>
        <p:sp>
          <p:nvSpPr>
            <p:cNvPr id="161" name="Google Shape;161;p18"/>
            <p:cNvSpPr txBox="1"/>
            <p:nvPr/>
          </p:nvSpPr>
          <p:spPr>
            <a:xfrm>
              <a:off x="7143750" y="3381375"/>
              <a:ext cx="571500" cy="28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200" b="1">
                  <a:solidFill>
                    <a:srgbClr val="3182CE"/>
                  </a:solidFill>
                  <a:latin typeface="Helvetica Neue"/>
                  <a:ea typeface="Helvetica Neue"/>
                  <a:cs typeface="Helvetica Neue"/>
                  <a:sym typeface="Helvetica Neue"/>
                </a:rPr>
                <a:t>91.82%</a:t>
              </a:r>
              <a:endParaRPr sz="1200" b="1">
                <a:solidFill>
                  <a:srgbClr val="3182CE"/>
                </a:solidFill>
                <a:latin typeface="Helvetica Neue"/>
                <a:ea typeface="Helvetica Neue"/>
                <a:cs typeface="Helvetica Neue"/>
                <a:sym typeface="Helvetica Neue"/>
              </a:endParaRPr>
            </a:p>
          </p:txBody>
        </p:sp>
      </p:grpSp>
      <p:grpSp>
        <p:nvGrpSpPr>
          <p:cNvPr id="162" name="Google Shape;162;p18"/>
          <p:cNvGrpSpPr/>
          <p:nvPr/>
        </p:nvGrpSpPr>
        <p:grpSpPr>
          <a:xfrm>
            <a:off x="381000" y="3762375"/>
            <a:ext cx="7334250" cy="285900"/>
            <a:chOff x="381000" y="3762375"/>
            <a:chExt cx="7334250" cy="285900"/>
          </a:xfrm>
        </p:grpSpPr>
        <p:sp>
          <p:nvSpPr>
            <p:cNvPr id="163" name="Google Shape;163;p18"/>
            <p:cNvSpPr/>
            <p:nvPr/>
          </p:nvSpPr>
          <p:spPr>
            <a:xfrm>
              <a:off x="2095500" y="3762375"/>
              <a:ext cx="5324400" cy="285900"/>
            </a:xfrm>
            <a:prstGeom prst="roundRect">
              <a:avLst>
                <a:gd name="adj" fmla="val 13333"/>
              </a:avLst>
            </a:prstGeom>
            <a:solidFill>
              <a:srgbClr val="E2E8F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64" name="Google Shape;164;p18"/>
            <p:cNvSpPr/>
            <p:nvPr/>
          </p:nvSpPr>
          <p:spPr>
            <a:xfrm>
              <a:off x="2095500" y="3762375"/>
              <a:ext cx="4867200" cy="285900"/>
            </a:xfrm>
            <a:prstGeom prst="roundRect">
              <a:avLst>
                <a:gd name="adj" fmla="val 13333"/>
              </a:avLst>
            </a:prstGeom>
            <a:solidFill>
              <a:srgbClr val="3182C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65" name="Google Shape;165;p18"/>
            <p:cNvSpPr txBox="1"/>
            <p:nvPr/>
          </p:nvSpPr>
          <p:spPr>
            <a:xfrm>
              <a:off x="381000" y="3762375"/>
              <a:ext cx="1619100" cy="2859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GB" sz="1200" b="1">
                  <a:solidFill>
                    <a:srgbClr val="2D3748"/>
                  </a:solidFill>
                  <a:latin typeface="Arial"/>
                  <a:ea typeface="Arial"/>
                  <a:cs typeface="Arial"/>
                  <a:sym typeface="Arial"/>
                </a:rPr>
                <a:t>PrimeLogistics</a:t>
              </a:r>
              <a:endParaRPr sz="1200" b="1">
                <a:solidFill>
                  <a:srgbClr val="2D3748"/>
                </a:solidFill>
                <a:latin typeface="Arial"/>
                <a:ea typeface="Arial"/>
                <a:cs typeface="Arial"/>
                <a:sym typeface="Arial"/>
              </a:endParaRPr>
            </a:p>
          </p:txBody>
        </p:sp>
        <p:sp>
          <p:nvSpPr>
            <p:cNvPr id="166" name="Google Shape;166;p18"/>
            <p:cNvSpPr txBox="1"/>
            <p:nvPr/>
          </p:nvSpPr>
          <p:spPr>
            <a:xfrm>
              <a:off x="7143750" y="3762375"/>
              <a:ext cx="571500" cy="28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200" b="1">
                  <a:solidFill>
                    <a:srgbClr val="3182CE"/>
                  </a:solidFill>
                  <a:latin typeface="Helvetica Neue"/>
                  <a:ea typeface="Helvetica Neue"/>
                  <a:cs typeface="Helvetica Neue"/>
                  <a:sym typeface="Helvetica Neue"/>
                </a:rPr>
                <a:t>91.43%</a:t>
              </a:r>
              <a:endParaRPr sz="1200" b="1">
                <a:solidFill>
                  <a:srgbClr val="3182CE"/>
                </a:solidFill>
                <a:latin typeface="Helvetica Neue"/>
                <a:ea typeface="Helvetica Neue"/>
                <a:cs typeface="Helvetica Neue"/>
                <a:sym typeface="Helvetica Neue"/>
              </a:endParaRPr>
            </a:p>
          </p:txBody>
        </p:sp>
      </p:grpSp>
      <p:sp>
        <p:nvSpPr>
          <p:cNvPr id="167" name="Google Shape;167;p18"/>
          <p:cNvSpPr/>
          <p:nvPr/>
        </p:nvSpPr>
        <p:spPr>
          <a:xfrm>
            <a:off x="571500" y="4857750"/>
            <a:ext cx="114300" cy="114300"/>
          </a:xfrm>
          <a:prstGeom prst="roundRect">
            <a:avLst>
              <a:gd name="adj" fmla="val 16666"/>
            </a:avLst>
          </a:prstGeom>
          <a:solidFill>
            <a:srgbClr val="3182C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68" name="Google Shape;168;p18"/>
          <p:cNvSpPr txBox="1"/>
          <p:nvPr/>
        </p:nvSpPr>
        <p:spPr>
          <a:xfrm>
            <a:off x="762000" y="4829175"/>
            <a:ext cx="28575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000" b="0">
                <a:solidFill>
                  <a:srgbClr val="718096"/>
                </a:solidFill>
                <a:latin typeface="Arial"/>
                <a:ea typeface="Arial"/>
                <a:cs typeface="Arial"/>
                <a:sym typeface="Arial"/>
              </a:rPr>
              <a:t>EXECUTIVE LEADERSHIP BRIEFING</a:t>
            </a:r>
            <a:endParaRPr sz="1000" b="0">
              <a:solidFill>
                <a:srgbClr val="718096"/>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pic>
        <p:nvPicPr>
          <p:cNvPr id="173" name="Google Shape;173;p19"/>
          <p:cNvPicPr preferRelativeResize="0"/>
          <p:nvPr/>
        </p:nvPicPr>
        <p:blipFill rotWithShape="1">
          <a:blip r:embed="rId3">
            <a:alphaModFix/>
          </a:blip>
          <a:srcRect/>
          <a:stretch/>
        </p:blipFill>
        <p:spPr>
          <a:xfrm>
            <a:off x="0" y="0"/>
            <a:ext cx="9144000" cy="1905000"/>
          </a:xfrm>
          <a:prstGeom prst="rect">
            <a:avLst/>
          </a:prstGeom>
          <a:noFill/>
          <a:ln>
            <a:noFill/>
          </a:ln>
        </p:spPr>
      </p:pic>
      <p:sp>
        <p:nvSpPr>
          <p:cNvPr id="174" name="Google Shape;174;p19"/>
          <p:cNvSpPr/>
          <p:nvPr/>
        </p:nvSpPr>
        <p:spPr>
          <a:xfrm>
            <a:off x="0" y="1857375"/>
            <a:ext cx="9144000" cy="47700"/>
          </a:xfrm>
          <a:prstGeom prst="rect">
            <a:avLst/>
          </a:prstGeom>
          <a:solidFill>
            <a:srgbClr val="3182C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5" name="Google Shape;175;p19"/>
          <p:cNvSpPr txBox="1"/>
          <p:nvPr/>
        </p:nvSpPr>
        <p:spPr>
          <a:xfrm>
            <a:off x="381000" y="190500"/>
            <a:ext cx="80010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3000" b="1">
                <a:solidFill>
                  <a:srgbClr val="1A365D"/>
                </a:solidFill>
                <a:latin typeface="Helvetica Neue"/>
                <a:ea typeface="Helvetica Neue"/>
                <a:cs typeface="Helvetica Neue"/>
                <a:sym typeface="Helvetica Neue"/>
              </a:rPr>
              <a:t>Proposed Solutions</a:t>
            </a:r>
            <a:endParaRPr sz="3000" b="1">
              <a:solidFill>
                <a:srgbClr val="1A365D"/>
              </a:solidFill>
              <a:latin typeface="Helvetica Neue"/>
              <a:ea typeface="Helvetica Neue"/>
              <a:cs typeface="Helvetica Neue"/>
              <a:sym typeface="Helvetica Neue"/>
            </a:endParaRPr>
          </a:p>
        </p:txBody>
      </p:sp>
      <p:sp>
        <p:nvSpPr>
          <p:cNvPr id="176" name="Google Shape;176;p19"/>
          <p:cNvSpPr txBox="1"/>
          <p:nvPr/>
        </p:nvSpPr>
        <p:spPr>
          <a:xfrm>
            <a:off x="381000" y="1333500"/>
            <a:ext cx="80010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600" b="0">
                <a:solidFill>
                  <a:srgbClr val="4A5568"/>
                </a:solidFill>
                <a:latin typeface="Helvetica Neue Light"/>
                <a:ea typeface="Helvetica Neue Light"/>
                <a:cs typeface="Helvetica Neue Light"/>
                <a:sym typeface="Helvetica Neue Light"/>
              </a:rPr>
              <a:t>Strategic recommendations to mitigate supply chain risks and ensure compliance</a:t>
            </a:r>
            <a:endParaRPr sz="1600" b="0">
              <a:solidFill>
                <a:srgbClr val="4A5568"/>
              </a:solidFill>
              <a:latin typeface="Helvetica Neue Light"/>
              <a:ea typeface="Helvetica Neue Light"/>
              <a:cs typeface="Helvetica Neue Light"/>
              <a:sym typeface="Helvetica Neue Light"/>
            </a:endParaRPr>
          </a:p>
        </p:txBody>
      </p:sp>
      <p:grpSp>
        <p:nvGrpSpPr>
          <p:cNvPr id="177" name="Google Shape;177;p19"/>
          <p:cNvGrpSpPr/>
          <p:nvPr/>
        </p:nvGrpSpPr>
        <p:grpSpPr>
          <a:xfrm>
            <a:off x="571500" y="2190750"/>
            <a:ext cx="2476500" cy="1047900"/>
            <a:chOff x="571500" y="2190750"/>
            <a:chExt cx="2476500" cy="1047900"/>
          </a:xfrm>
        </p:grpSpPr>
        <p:sp>
          <p:nvSpPr>
            <p:cNvPr id="178" name="Google Shape;178;p19"/>
            <p:cNvSpPr/>
            <p:nvPr/>
          </p:nvSpPr>
          <p:spPr>
            <a:xfrm>
              <a:off x="571500" y="2190750"/>
              <a:ext cx="2476500" cy="1047900"/>
            </a:xfrm>
            <a:prstGeom prst="roundRect">
              <a:avLst>
                <a:gd name="adj" fmla="val 7272"/>
              </a:avLst>
            </a:prstGeom>
            <a:solidFill>
              <a:srgbClr val="F7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9" name="Google Shape;179;p19"/>
            <p:cNvSpPr/>
            <p:nvPr/>
          </p:nvSpPr>
          <p:spPr>
            <a:xfrm>
              <a:off x="571500" y="2190750"/>
              <a:ext cx="47700" cy="1047900"/>
            </a:xfrm>
            <a:prstGeom prst="rect">
              <a:avLst/>
            </a:prstGeom>
            <a:solidFill>
              <a:srgbClr val="3182C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0" name="Google Shape;180;p19"/>
            <p:cNvSpPr txBox="1"/>
            <p:nvPr/>
          </p:nvSpPr>
          <p:spPr>
            <a:xfrm>
              <a:off x="762000" y="2286000"/>
              <a:ext cx="2190900" cy="857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300" b="1">
                  <a:solidFill>
                    <a:srgbClr val="3182CE"/>
                  </a:solidFill>
                  <a:latin typeface="Helvetica Neue"/>
                  <a:ea typeface="Helvetica Neue"/>
                  <a:cs typeface="Helvetica Neue"/>
                  <a:sym typeface="Helvetica Neue"/>
                </a:rPr>
                <a:t>Inventory Validation</a:t>
              </a:r>
              <a:endParaRPr sz="1300" b="1">
                <a:solidFill>
                  <a:srgbClr val="3182CE"/>
                </a:solidFill>
                <a:latin typeface="Helvetica Neue"/>
                <a:ea typeface="Helvetica Neue"/>
                <a:cs typeface="Helvetica Neue"/>
                <a:sym typeface="Helvetica Neue"/>
              </a:endParaRPr>
            </a:p>
            <a:p>
              <a:pPr marL="0" lvl="0" indent="0" algn="l" rtl="0">
                <a:spcBef>
                  <a:spcPts val="600"/>
                </a:spcBef>
                <a:spcAft>
                  <a:spcPts val="0"/>
                </a:spcAft>
                <a:buNone/>
              </a:pPr>
              <a:r>
                <a:rPr lang="en-GB" sz="1100" b="0">
                  <a:solidFill>
                    <a:srgbClr val="4A5568"/>
                  </a:solidFill>
                  <a:latin typeface="Arial"/>
                  <a:ea typeface="Arial"/>
                  <a:cs typeface="Arial"/>
                  <a:sym typeface="Arial"/>
                </a:rPr>
                <a:t>Standardizing stock checks to prevent inconsistencies and stockouts.</a:t>
              </a:r>
              <a:endParaRPr sz="1100" b="0">
                <a:solidFill>
                  <a:srgbClr val="4A5568"/>
                </a:solidFill>
                <a:latin typeface="Arial"/>
                <a:ea typeface="Arial"/>
                <a:cs typeface="Arial"/>
                <a:sym typeface="Arial"/>
              </a:endParaRPr>
            </a:p>
          </p:txBody>
        </p:sp>
      </p:grpSp>
      <p:grpSp>
        <p:nvGrpSpPr>
          <p:cNvPr id="181" name="Google Shape;181;p19"/>
          <p:cNvGrpSpPr/>
          <p:nvPr/>
        </p:nvGrpSpPr>
        <p:grpSpPr>
          <a:xfrm>
            <a:off x="3333750" y="2190750"/>
            <a:ext cx="2476500" cy="1047900"/>
            <a:chOff x="3333750" y="2190750"/>
            <a:chExt cx="2476500" cy="1047900"/>
          </a:xfrm>
        </p:grpSpPr>
        <p:sp>
          <p:nvSpPr>
            <p:cNvPr id="182" name="Google Shape;182;p19"/>
            <p:cNvSpPr/>
            <p:nvPr/>
          </p:nvSpPr>
          <p:spPr>
            <a:xfrm>
              <a:off x="3333750" y="2190750"/>
              <a:ext cx="2476500" cy="1047900"/>
            </a:xfrm>
            <a:prstGeom prst="roundRect">
              <a:avLst>
                <a:gd name="adj" fmla="val 7272"/>
              </a:avLst>
            </a:prstGeom>
            <a:solidFill>
              <a:srgbClr val="F7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3" name="Google Shape;183;p19"/>
            <p:cNvSpPr/>
            <p:nvPr/>
          </p:nvSpPr>
          <p:spPr>
            <a:xfrm>
              <a:off x="3333750" y="2190750"/>
              <a:ext cx="47700" cy="1047900"/>
            </a:xfrm>
            <a:prstGeom prst="rect">
              <a:avLst/>
            </a:prstGeom>
            <a:solidFill>
              <a:srgbClr val="3182C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4" name="Google Shape;184;p19"/>
            <p:cNvSpPr txBox="1"/>
            <p:nvPr/>
          </p:nvSpPr>
          <p:spPr>
            <a:xfrm>
              <a:off x="3524250" y="2286000"/>
              <a:ext cx="2190900" cy="857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300" b="1">
                  <a:solidFill>
                    <a:srgbClr val="3182CE"/>
                  </a:solidFill>
                  <a:latin typeface="Helvetica Neue"/>
                  <a:ea typeface="Helvetica Neue"/>
                  <a:cs typeface="Helvetica Neue"/>
                  <a:sym typeface="Helvetica Neue"/>
                </a:rPr>
                <a:t>Supplier Audits</a:t>
              </a:r>
              <a:endParaRPr sz="1300" b="1">
                <a:solidFill>
                  <a:srgbClr val="3182CE"/>
                </a:solidFill>
                <a:latin typeface="Helvetica Neue"/>
                <a:ea typeface="Helvetica Neue"/>
                <a:cs typeface="Helvetica Neue"/>
                <a:sym typeface="Helvetica Neue"/>
              </a:endParaRPr>
            </a:p>
            <a:p>
              <a:pPr marL="0" lvl="0" indent="0" algn="l" rtl="0">
                <a:spcBef>
                  <a:spcPts val="600"/>
                </a:spcBef>
                <a:spcAft>
                  <a:spcPts val="0"/>
                </a:spcAft>
                <a:buNone/>
              </a:pPr>
              <a:r>
                <a:rPr lang="en-GB" sz="1100" b="0">
                  <a:solidFill>
                    <a:srgbClr val="4A5568"/>
                  </a:solidFill>
                  <a:latin typeface="Arial"/>
                  <a:ea typeface="Arial"/>
                  <a:cs typeface="Arial"/>
                  <a:sym typeface="Arial"/>
                </a:rPr>
                <a:t>Rigorous quality reviews to meet FDA and GMP standards.</a:t>
              </a:r>
              <a:endParaRPr sz="1100" b="0">
                <a:solidFill>
                  <a:srgbClr val="4A5568"/>
                </a:solidFill>
                <a:latin typeface="Arial"/>
                <a:ea typeface="Arial"/>
                <a:cs typeface="Arial"/>
                <a:sym typeface="Arial"/>
              </a:endParaRPr>
            </a:p>
          </p:txBody>
        </p:sp>
      </p:grpSp>
      <p:grpSp>
        <p:nvGrpSpPr>
          <p:cNvPr id="185" name="Google Shape;185;p19"/>
          <p:cNvGrpSpPr/>
          <p:nvPr/>
        </p:nvGrpSpPr>
        <p:grpSpPr>
          <a:xfrm>
            <a:off x="6096000" y="2190750"/>
            <a:ext cx="2476500" cy="1047900"/>
            <a:chOff x="6096000" y="2190750"/>
            <a:chExt cx="2476500" cy="1047900"/>
          </a:xfrm>
        </p:grpSpPr>
        <p:sp>
          <p:nvSpPr>
            <p:cNvPr id="186" name="Google Shape;186;p19"/>
            <p:cNvSpPr/>
            <p:nvPr/>
          </p:nvSpPr>
          <p:spPr>
            <a:xfrm>
              <a:off x="6096000" y="2190750"/>
              <a:ext cx="2476500" cy="1047900"/>
            </a:xfrm>
            <a:prstGeom prst="roundRect">
              <a:avLst>
                <a:gd name="adj" fmla="val 7272"/>
              </a:avLst>
            </a:prstGeom>
            <a:solidFill>
              <a:srgbClr val="F7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7" name="Google Shape;187;p19"/>
            <p:cNvSpPr/>
            <p:nvPr/>
          </p:nvSpPr>
          <p:spPr>
            <a:xfrm>
              <a:off x="6096000" y="2190750"/>
              <a:ext cx="47700" cy="1047900"/>
            </a:xfrm>
            <a:prstGeom prst="rect">
              <a:avLst/>
            </a:prstGeom>
            <a:solidFill>
              <a:srgbClr val="3182C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8" name="Google Shape;188;p19"/>
            <p:cNvSpPr txBox="1"/>
            <p:nvPr/>
          </p:nvSpPr>
          <p:spPr>
            <a:xfrm>
              <a:off x="6286500" y="2286000"/>
              <a:ext cx="2190900" cy="857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300" b="1">
                  <a:solidFill>
                    <a:srgbClr val="3182CE"/>
                  </a:solidFill>
                  <a:latin typeface="Helvetica Neue"/>
                  <a:ea typeface="Helvetica Neue"/>
                  <a:cs typeface="Helvetica Neue"/>
                  <a:sym typeface="Helvetica Neue"/>
                </a:rPr>
                <a:t>Traceability Improvements</a:t>
              </a:r>
              <a:endParaRPr sz="1300" b="1">
                <a:solidFill>
                  <a:srgbClr val="3182CE"/>
                </a:solidFill>
                <a:latin typeface="Helvetica Neue"/>
                <a:ea typeface="Helvetica Neue"/>
                <a:cs typeface="Helvetica Neue"/>
                <a:sym typeface="Helvetica Neue"/>
              </a:endParaRPr>
            </a:p>
            <a:p>
              <a:pPr marL="0" lvl="0" indent="0" algn="l" rtl="0">
                <a:spcBef>
                  <a:spcPts val="600"/>
                </a:spcBef>
                <a:spcAft>
                  <a:spcPts val="0"/>
                </a:spcAft>
                <a:buNone/>
              </a:pPr>
              <a:r>
                <a:rPr lang="en-GB" sz="1100" b="0">
                  <a:solidFill>
                    <a:srgbClr val="4A5568"/>
                  </a:solidFill>
                  <a:latin typeface="Arial"/>
                  <a:ea typeface="Arial"/>
                  <a:cs typeface="Arial"/>
                  <a:sym typeface="Arial"/>
                </a:rPr>
                <a:t>Digital logging systems to eliminate documentation gaps in supply logs.</a:t>
              </a:r>
              <a:endParaRPr sz="1100" b="0">
                <a:solidFill>
                  <a:srgbClr val="4A5568"/>
                </a:solidFill>
                <a:latin typeface="Arial"/>
                <a:ea typeface="Arial"/>
                <a:cs typeface="Arial"/>
                <a:sym typeface="Arial"/>
              </a:endParaRPr>
            </a:p>
          </p:txBody>
        </p:sp>
      </p:grpSp>
      <p:grpSp>
        <p:nvGrpSpPr>
          <p:cNvPr id="189" name="Google Shape;189;p19"/>
          <p:cNvGrpSpPr/>
          <p:nvPr/>
        </p:nvGrpSpPr>
        <p:grpSpPr>
          <a:xfrm>
            <a:off x="571500" y="3429000"/>
            <a:ext cx="3952800" cy="1047900"/>
            <a:chOff x="571500" y="3429000"/>
            <a:chExt cx="3952800" cy="1047900"/>
          </a:xfrm>
        </p:grpSpPr>
        <p:sp>
          <p:nvSpPr>
            <p:cNvPr id="190" name="Google Shape;190;p19"/>
            <p:cNvSpPr/>
            <p:nvPr/>
          </p:nvSpPr>
          <p:spPr>
            <a:xfrm>
              <a:off x="571500" y="3429000"/>
              <a:ext cx="3952800" cy="1047900"/>
            </a:xfrm>
            <a:prstGeom prst="roundRect">
              <a:avLst>
                <a:gd name="adj" fmla="val 7272"/>
              </a:avLst>
            </a:prstGeom>
            <a:solidFill>
              <a:srgbClr val="F7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91" name="Google Shape;191;p19"/>
            <p:cNvSpPr/>
            <p:nvPr/>
          </p:nvSpPr>
          <p:spPr>
            <a:xfrm>
              <a:off x="571500" y="3429000"/>
              <a:ext cx="47700" cy="1047900"/>
            </a:xfrm>
            <a:prstGeom prst="rect">
              <a:avLst/>
            </a:prstGeom>
            <a:solidFill>
              <a:srgbClr val="3182C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92" name="Google Shape;192;p19"/>
            <p:cNvSpPr txBox="1"/>
            <p:nvPr/>
          </p:nvSpPr>
          <p:spPr>
            <a:xfrm>
              <a:off x="762000" y="3524250"/>
              <a:ext cx="3667200" cy="857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300" b="1">
                  <a:solidFill>
                    <a:srgbClr val="3182CE"/>
                  </a:solidFill>
                  <a:latin typeface="Helvetica Neue"/>
                  <a:ea typeface="Helvetica Neue"/>
                  <a:cs typeface="Helvetica Neue"/>
                  <a:sym typeface="Helvetica Neue"/>
                </a:rPr>
                <a:t>Secondary Supplier Qualification</a:t>
              </a:r>
              <a:endParaRPr sz="1300" b="1">
                <a:solidFill>
                  <a:srgbClr val="3182CE"/>
                </a:solidFill>
                <a:latin typeface="Helvetica Neue"/>
                <a:ea typeface="Helvetica Neue"/>
                <a:cs typeface="Helvetica Neue"/>
                <a:sym typeface="Helvetica Neue"/>
              </a:endParaRPr>
            </a:p>
            <a:p>
              <a:pPr marL="0" lvl="0" indent="0" algn="l" rtl="0">
                <a:spcBef>
                  <a:spcPts val="600"/>
                </a:spcBef>
                <a:spcAft>
                  <a:spcPts val="0"/>
                </a:spcAft>
                <a:buNone/>
              </a:pPr>
              <a:r>
                <a:rPr lang="en-GB" sz="1100" b="0">
                  <a:solidFill>
                    <a:srgbClr val="4A5568"/>
                  </a:solidFill>
                  <a:latin typeface="Arial"/>
                  <a:ea typeface="Arial"/>
                  <a:cs typeface="Arial"/>
                  <a:sym typeface="Arial"/>
                </a:rPr>
                <a:t>Diversifying the partner base to reduce reliance on single sources and increase operational resilience.</a:t>
              </a:r>
              <a:endParaRPr sz="1100" b="0">
                <a:solidFill>
                  <a:srgbClr val="4A5568"/>
                </a:solidFill>
                <a:latin typeface="Arial"/>
                <a:ea typeface="Arial"/>
                <a:cs typeface="Arial"/>
                <a:sym typeface="Arial"/>
              </a:endParaRPr>
            </a:p>
          </p:txBody>
        </p:sp>
      </p:grpSp>
      <p:grpSp>
        <p:nvGrpSpPr>
          <p:cNvPr id="193" name="Google Shape;193;p19"/>
          <p:cNvGrpSpPr/>
          <p:nvPr/>
        </p:nvGrpSpPr>
        <p:grpSpPr>
          <a:xfrm>
            <a:off x="4619625" y="3429000"/>
            <a:ext cx="3952800" cy="1047900"/>
            <a:chOff x="4619625" y="3429000"/>
            <a:chExt cx="3952800" cy="1047900"/>
          </a:xfrm>
        </p:grpSpPr>
        <p:sp>
          <p:nvSpPr>
            <p:cNvPr id="194" name="Google Shape;194;p19"/>
            <p:cNvSpPr/>
            <p:nvPr/>
          </p:nvSpPr>
          <p:spPr>
            <a:xfrm>
              <a:off x="4619625" y="3429000"/>
              <a:ext cx="3952800" cy="1047900"/>
            </a:xfrm>
            <a:prstGeom prst="roundRect">
              <a:avLst>
                <a:gd name="adj" fmla="val 7272"/>
              </a:avLst>
            </a:prstGeom>
            <a:solidFill>
              <a:srgbClr val="F7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95" name="Google Shape;195;p19"/>
            <p:cNvSpPr/>
            <p:nvPr/>
          </p:nvSpPr>
          <p:spPr>
            <a:xfrm>
              <a:off x="4619625" y="3429000"/>
              <a:ext cx="47700" cy="1047900"/>
            </a:xfrm>
            <a:prstGeom prst="rect">
              <a:avLst/>
            </a:prstGeom>
            <a:solidFill>
              <a:srgbClr val="3182C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96" name="Google Shape;196;p19"/>
            <p:cNvSpPr txBox="1"/>
            <p:nvPr/>
          </p:nvSpPr>
          <p:spPr>
            <a:xfrm>
              <a:off x="4810125" y="3524250"/>
              <a:ext cx="3667200" cy="857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300" b="1">
                  <a:solidFill>
                    <a:srgbClr val="3182CE"/>
                  </a:solidFill>
                  <a:latin typeface="Helvetica Neue"/>
                  <a:ea typeface="Helvetica Neue"/>
                  <a:cs typeface="Helvetica Neue"/>
                  <a:sym typeface="Helvetica Neue"/>
                </a:rPr>
                <a:t>Monitoring &amp; Compliance Controls</a:t>
              </a:r>
              <a:endParaRPr sz="1300" b="1">
                <a:solidFill>
                  <a:srgbClr val="3182CE"/>
                </a:solidFill>
                <a:latin typeface="Helvetica Neue"/>
                <a:ea typeface="Helvetica Neue"/>
                <a:cs typeface="Helvetica Neue"/>
                <a:sym typeface="Helvetica Neue"/>
              </a:endParaRPr>
            </a:p>
            <a:p>
              <a:pPr marL="0" lvl="0" indent="0" algn="l" rtl="0">
                <a:spcBef>
                  <a:spcPts val="600"/>
                </a:spcBef>
                <a:spcAft>
                  <a:spcPts val="0"/>
                </a:spcAft>
                <a:buNone/>
              </a:pPr>
              <a:r>
                <a:rPr lang="en-GB" sz="1100" b="0">
                  <a:solidFill>
                    <a:srgbClr val="4A5568"/>
                  </a:solidFill>
                  <a:latin typeface="Arial"/>
                  <a:ea typeface="Arial"/>
                  <a:cs typeface="Arial"/>
                  <a:sym typeface="Arial"/>
                </a:rPr>
                <a:t>Real-time oversight mechanisms to maintain regulatory standing and product quality.</a:t>
              </a:r>
              <a:endParaRPr sz="1100" b="0">
                <a:solidFill>
                  <a:srgbClr val="4A5568"/>
                </a:solidFill>
                <a:latin typeface="Arial"/>
                <a:ea typeface="Arial"/>
                <a:cs typeface="Arial"/>
                <a:sym typeface="Arial"/>
              </a:endParaRPr>
            </a:p>
          </p:txBody>
        </p:sp>
      </p:grpSp>
      <p:sp>
        <p:nvSpPr>
          <p:cNvPr id="197" name="Google Shape;197;p19"/>
          <p:cNvSpPr/>
          <p:nvPr/>
        </p:nvSpPr>
        <p:spPr>
          <a:xfrm>
            <a:off x="571500" y="4810125"/>
            <a:ext cx="114300" cy="114300"/>
          </a:xfrm>
          <a:prstGeom prst="roundRect">
            <a:avLst>
              <a:gd name="adj" fmla="val 16666"/>
            </a:avLst>
          </a:prstGeom>
          <a:solidFill>
            <a:srgbClr val="3182C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98" name="Google Shape;198;p19"/>
          <p:cNvSpPr txBox="1"/>
          <p:nvPr/>
        </p:nvSpPr>
        <p:spPr>
          <a:xfrm>
            <a:off x="762000" y="4781550"/>
            <a:ext cx="28575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000" b="0">
                <a:solidFill>
                  <a:srgbClr val="718096"/>
                </a:solidFill>
                <a:latin typeface="Arial"/>
                <a:ea typeface="Arial"/>
                <a:cs typeface="Arial"/>
                <a:sym typeface="Arial"/>
              </a:rPr>
              <a:t>EXECUTIVE LEADERSHIP BRIEFING</a:t>
            </a:r>
            <a:endParaRPr sz="1000" b="0">
              <a:solidFill>
                <a:srgbClr val="718096"/>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pic>
        <p:nvPicPr>
          <p:cNvPr id="203" name="Google Shape;203;p20"/>
          <p:cNvPicPr preferRelativeResize="0"/>
          <p:nvPr/>
        </p:nvPicPr>
        <p:blipFill rotWithShape="1">
          <a:blip r:embed="rId3">
            <a:alphaModFix/>
          </a:blip>
          <a:srcRect/>
          <a:stretch/>
        </p:blipFill>
        <p:spPr>
          <a:xfrm>
            <a:off x="0" y="0"/>
            <a:ext cx="9144000" cy="1905000"/>
          </a:xfrm>
          <a:prstGeom prst="rect">
            <a:avLst/>
          </a:prstGeom>
          <a:noFill/>
          <a:ln>
            <a:noFill/>
          </a:ln>
        </p:spPr>
      </p:pic>
      <p:sp>
        <p:nvSpPr>
          <p:cNvPr id="204" name="Google Shape;204;p20"/>
          <p:cNvSpPr/>
          <p:nvPr/>
        </p:nvSpPr>
        <p:spPr>
          <a:xfrm>
            <a:off x="0" y="1857375"/>
            <a:ext cx="9144000" cy="47700"/>
          </a:xfrm>
          <a:prstGeom prst="rect">
            <a:avLst/>
          </a:prstGeom>
          <a:solidFill>
            <a:srgbClr val="3182C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5" name="Google Shape;205;p20"/>
          <p:cNvSpPr txBox="1"/>
          <p:nvPr/>
        </p:nvSpPr>
        <p:spPr>
          <a:xfrm>
            <a:off x="381000" y="190500"/>
            <a:ext cx="80010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3000" b="1">
                <a:solidFill>
                  <a:srgbClr val="1A365D"/>
                </a:solidFill>
                <a:latin typeface="Helvetica Neue"/>
                <a:ea typeface="Helvetica Neue"/>
                <a:cs typeface="Helvetica Neue"/>
                <a:sym typeface="Helvetica Neue"/>
              </a:rPr>
              <a:t>Implementation Plan</a:t>
            </a:r>
            <a:endParaRPr sz="3000" b="1">
              <a:solidFill>
                <a:srgbClr val="1A365D"/>
              </a:solidFill>
              <a:latin typeface="Helvetica Neue"/>
              <a:ea typeface="Helvetica Neue"/>
              <a:cs typeface="Helvetica Neue"/>
              <a:sym typeface="Helvetica Neue"/>
            </a:endParaRPr>
          </a:p>
        </p:txBody>
      </p:sp>
      <p:sp>
        <p:nvSpPr>
          <p:cNvPr id="206" name="Google Shape;206;p20"/>
          <p:cNvSpPr txBox="1"/>
          <p:nvPr/>
        </p:nvSpPr>
        <p:spPr>
          <a:xfrm>
            <a:off x="381000" y="1333500"/>
            <a:ext cx="80010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600" b="0">
                <a:solidFill>
                  <a:srgbClr val="4A5568"/>
                </a:solidFill>
                <a:latin typeface="Helvetica Neue Light"/>
                <a:ea typeface="Helvetica Neue Light"/>
                <a:cs typeface="Helvetica Neue Light"/>
                <a:sym typeface="Helvetica Neue Light"/>
              </a:rPr>
              <a:t>Phased roadmap for operational stability and long-term compliance</a:t>
            </a:r>
            <a:endParaRPr sz="1600" b="0">
              <a:solidFill>
                <a:srgbClr val="4A5568"/>
              </a:solidFill>
              <a:latin typeface="Helvetica Neue Light"/>
              <a:ea typeface="Helvetica Neue Light"/>
              <a:cs typeface="Helvetica Neue Light"/>
              <a:sym typeface="Helvetica Neue Light"/>
            </a:endParaRPr>
          </a:p>
        </p:txBody>
      </p:sp>
      <p:pic>
        <p:nvPicPr>
          <p:cNvPr id="207" name="Google Shape;207;p20"/>
          <p:cNvPicPr preferRelativeResize="0"/>
          <p:nvPr/>
        </p:nvPicPr>
        <p:blipFill rotWithShape="1">
          <a:blip r:embed="rId4">
            <a:alphaModFix/>
          </a:blip>
          <a:srcRect/>
          <a:stretch/>
        </p:blipFill>
        <p:spPr>
          <a:xfrm>
            <a:off x="952500" y="2657475"/>
            <a:ext cx="7239000" cy="19200"/>
          </a:xfrm>
          <a:prstGeom prst="rect">
            <a:avLst/>
          </a:prstGeom>
          <a:noFill/>
          <a:ln>
            <a:noFill/>
          </a:ln>
        </p:spPr>
      </p:pic>
      <p:sp>
        <p:nvSpPr>
          <p:cNvPr id="208" name="Google Shape;208;p20"/>
          <p:cNvSpPr/>
          <p:nvPr/>
        </p:nvSpPr>
        <p:spPr>
          <a:xfrm>
            <a:off x="876300" y="2590800"/>
            <a:ext cx="152400" cy="152400"/>
          </a:xfrm>
          <a:prstGeom prst="ellipse">
            <a:avLst/>
          </a:prstGeom>
          <a:solidFill>
            <a:srgbClr val="3182C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9" name="Google Shape;209;p20"/>
          <p:cNvSpPr/>
          <p:nvPr/>
        </p:nvSpPr>
        <p:spPr>
          <a:xfrm>
            <a:off x="3543300" y="2590800"/>
            <a:ext cx="152400" cy="152400"/>
          </a:xfrm>
          <a:prstGeom prst="ellipse">
            <a:avLst/>
          </a:prstGeom>
          <a:solidFill>
            <a:srgbClr val="3182C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0" name="Google Shape;210;p20"/>
          <p:cNvSpPr/>
          <p:nvPr/>
        </p:nvSpPr>
        <p:spPr>
          <a:xfrm>
            <a:off x="6210300" y="2590800"/>
            <a:ext cx="152400" cy="152400"/>
          </a:xfrm>
          <a:prstGeom prst="ellipse">
            <a:avLst/>
          </a:prstGeom>
          <a:solidFill>
            <a:srgbClr val="3182C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211" name="Google Shape;211;p20"/>
          <p:cNvGrpSpPr/>
          <p:nvPr/>
        </p:nvGrpSpPr>
        <p:grpSpPr>
          <a:xfrm>
            <a:off x="952500" y="2190750"/>
            <a:ext cx="2286000" cy="2000250"/>
            <a:chOff x="952500" y="2190750"/>
            <a:chExt cx="2286000" cy="2000250"/>
          </a:xfrm>
        </p:grpSpPr>
        <p:sp>
          <p:nvSpPr>
            <p:cNvPr id="212" name="Google Shape;212;p20"/>
            <p:cNvSpPr txBox="1"/>
            <p:nvPr/>
          </p:nvSpPr>
          <p:spPr>
            <a:xfrm>
              <a:off x="952500" y="2190750"/>
              <a:ext cx="2286000" cy="381000"/>
            </a:xfrm>
            <a:prstGeom prst="rect">
              <a:avLst/>
            </a:prstGeom>
            <a:noFill/>
            <a:ln>
              <a:noFill/>
            </a:ln>
          </p:spPr>
          <p:txBody>
            <a:bodyPr spcFirstLastPara="1" wrap="square" lIns="0" tIns="0" rIns="0" bIns="0" anchor="b" anchorCtr="0">
              <a:noAutofit/>
            </a:bodyPr>
            <a:lstStyle/>
            <a:p>
              <a:pPr marL="0" lvl="0" indent="0" algn="l" rtl="0">
                <a:spcBef>
                  <a:spcPts val="0"/>
                </a:spcBef>
                <a:spcAft>
                  <a:spcPts val="0"/>
                </a:spcAft>
                <a:buNone/>
              </a:pPr>
              <a:r>
                <a:rPr lang="en-GB" sz="1400" b="1">
                  <a:solidFill>
                    <a:srgbClr val="3182CE"/>
                  </a:solidFill>
                  <a:latin typeface="Helvetica Neue"/>
                  <a:ea typeface="Helvetica Neue"/>
                  <a:cs typeface="Helvetica Neue"/>
                  <a:sym typeface="Helvetica Neue"/>
                </a:rPr>
                <a:t>Immediate Actions</a:t>
              </a:r>
              <a:endParaRPr sz="1400" b="1">
                <a:solidFill>
                  <a:srgbClr val="3182CE"/>
                </a:solidFill>
                <a:latin typeface="Helvetica Neue"/>
                <a:ea typeface="Helvetica Neue"/>
                <a:cs typeface="Helvetica Neue"/>
                <a:sym typeface="Helvetica Neue"/>
              </a:endParaRPr>
            </a:p>
            <a:p>
              <a:pPr marL="0" lvl="0" indent="0" algn="l" rtl="0">
                <a:spcBef>
                  <a:spcPts val="0"/>
                </a:spcBef>
                <a:spcAft>
                  <a:spcPts val="0"/>
                </a:spcAft>
                <a:buNone/>
              </a:pPr>
              <a:r>
                <a:rPr lang="en-GB" sz="1100" b="0">
                  <a:solidFill>
                    <a:srgbClr val="718096"/>
                  </a:solidFill>
                  <a:latin typeface="Helvetica Neue Light"/>
                  <a:ea typeface="Helvetica Neue Light"/>
                  <a:cs typeface="Helvetica Neue Light"/>
                  <a:sym typeface="Helvetica Neue Light"/>
                </a:rPr>
                <a:t>0–7 Days</a:t>
              </a:r>
              <a:endParaRPr sz="1100" b="0">
                <a:solidFill>
                  <a:srgbClr val="718096"/>
                </a:solidFill>
                <a:latin typeface="Helvetica Neue Light"/>
                <a:ea typeface="Helvetica Neue Light"/>
                <a:cs typeface="Helvetica Neue Light"/>
                <a:sym typeface="Helvetica Neue Light"/>
              </a:endParaRPr>
            </a:p>
          </p:txBody>
        </p:sp>
        <p:sp>
          <p:nvSpPr>
            <p:cNvPr id="213" name="Google Shape;213;p20"/>
            <p:cNvSpPr/>
            <p:nvPr/>
          </p:nvSpPr>
          <p:spPr>
            <a:xfrm>
              <a:off x="952500" y="2857500"/>
              <a:ext cx="2286000" cy="1333500"/>
            </a:xfrm>
            <a:prstGeom prst="roundRect">
              <a:avLst>
                <a:gd name="adj" fmla="val 5714"/>
              </a:avLst>
            </a:prstGeom>
            <a:solidFill>
              <a:srgbClr val="F7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4" name="Google Shape;214;p20"/>
            <p:cNvSpPr/>
            <p:nvPr/>
          </p:nvSpPr>
          <p:spPr>
            <a:xfrm>
              <a:off x="952500" y="2857500"/>
              <a:ext cx="47700" cy="1333500"/>
            </a:xfrm>
            <a:prstGeom prst="rect">
              <a:avLst/>
            </a:prstGeom>
            <a:solidFill>
              <a:srgbClr val="3182C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5" name="Google Shape;215;p20"/>
            <p:cNvSpPr txBox="1"/>
            <p:nvPr/>
          </p:nvSpPr>
          <p:spPr>
            <a:xfrm>
              <a:off x="1095375" y="3000375"/>
              <a:ext cx="2000100" cy="1047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200" b="1">
                  <a:solidFill>
                    <a:srgbClr val="2D3748"/>
                  </a:solidFill>
                  <a:latin typeface="Arial"/>
                  <a:ea typeface="Arial"/>
                  <a:cs typeface="Arial"/>
                  <a:sym typeface="Arial"/>
                </a:rPr>
                <a:t>Batch Validation</a:t>
              </a:r>
              <a:endParaRPr sz="1200" b="1">
                <a:solidFill>
                  <a:srgbClr val="2D3748"/>
                </a:solidFill>
                <a:latin typeface="Arial"/>
                <a:ea typeface="Arial"/>
                <a:cs typeface="Arial"/>
                <a:sym typeface="Arial"/>
              </a:endParaRPr>
            </a:p>
            <a:p>
              <a:pPr marL="0" lvl="0" indent="0" algn="l" rtl="0">
                <a:spcBef>
                  <a:spcPts val="0"/>
                </a:spcBef>
                <a:spcAft>
                  <a:spcPts val="0"/>
                </a:spcAft>
                <a:buNone/>
              </a:pPr>
              <a:r>
                <a:rPr lang="en-GB" sz="1100" b="0">
                  <a:solidFill>
                    <a:srgbClr val="4A5568"/>
                  </a:solidFill>
                  <a:latin typeface="Arial"/>
                  <a:ea typeface="Arial"/>
                  <a:cs typeface="Arial"/>
                  <a:sym typeface="Arial"/>
                </a:rPr>
                <a:t>Standardizing stock checks</a:t>
              </a:r>
              <a:endParaRPr sz="1100" b="0">
                <a:solidFill>
                  <a:srgbClr val="4A5568"/>
                </a:solidFill>
                <a:latin typeface="Arial"/>
                <a:ea typeface="Arial"/>
                <a:cs typeface="Arial"/>
                <a:sym typeface="Arial"/>
              </a:endParaRPr>
            </a:p>
            <a:p>
              <a:pPr marL="0" lvl="0" indent="0" algn="l" rtl="0">
                <a:spcBef>
                  <a:spcPts val="900"/>
                </a:spcBef>
                <a:spcAft>
                  <a:spcPts val="0"/>
                </a:spcAft>
                <a:buNone/>
              </a:pPr>
              <a:r>
                <a:rPr lang="en-GB" sz="1200" b="1">
                  <a:solidFill>
                    <a:srgbClr val="2D3748"/>
                  </a:solidFill>
                  <a:latin typeface="Arial"/>
                  <a:ea typeface="Arial"/>
                  <a:cs typeface="Arial"/>
                  <a:sym typeface="Arial"/>
                </a:rPr>
                <a:t>Supplier Audits</a:t>
              </a:r>
              <a:endParaRPr sz="1200" b="1">
                <a:solidFill>
                  <a:srgbClr val="2D3748"/>
                </a:solidFill>
                <a:latin typeface="Arial"/>
                <a:ea typeface="Arial"/>
                <a:cs typeface="Arial"/>
                <a:sym typeface="Arial"/>
              </a:endParaRPr>
            </a:p>
            <a:p>
              <a:pPr marL="0" lvl="0" indent="0" algn="l" rtl="0">
                <a:spcBef>
                  <a:spcPts val="0"/>
                </a:spcBef>
                <a:spcAft>
                  <a:spcPts val="0"/>
                </a:spcAft>
                <a:buNone/>
              </a:pPr>
              <a:r>
                <a:rPr lang="en-GB" sz="1100" b="0">
                  <a:solidFill>
                    <a:srgbClr val="4A5568"/>
                  </a:solidFill>
                  <a:latin typeface="Arial"/>
                  <a:ea typeface="Arial"/>
                  <a:cs typeface="Arial"/>
                  <a:sym typeface="Arial"/>
                </a:rPr>
                <a:t>FDA &amp; GMP reviews</a:t>
              </a:r>
              <a:endParaRPr sz="1100" b="0">
                <a:solidFill>
                  <a:srgbClr val="4A5568"/>
                </a:solidFill>
                <a:latin typeface="Arial"/>
                <a:ea typeface="Arial"/>
                <a:cs typeface="Arial"/>
                <a:sym typeface="Arial"/>
              </a:endParaRPr>
            </a:p>
          </p:txBody>
        </p:sp>
      </p:grpSp>
      <p:grpSp>
        <p:nvGrpSpPr>
          <p:cNvPr id="216" name="Google Shape;216;p20"/>
          <p:cNvGrpSpPr/>
          <p:nvPr/>
        </p:nvGrpSpPr>
        <p:grpSpPr>
          <a:xfrm>
            <a:off x="3619500" y="2190750"/>
            <a:ext cx="2286000" cy="2000250"/>
            <a:chOff x="3619500" y="2190750"/>
            <a:chExt cx="2286000" cy="2000250"/>
          </a:xfrm>
        </p:grpSpPr>
        <p:sp>
          <p:nvSpPr>
            <p:cNvPr id="217" name="Google Shape;217;p20"/>
            <p:cNvSpPr txBox="1"/>
            <p:nvPr/>
          </p:nvSpPr>
          <p:spPr>
            <a:xfrm>
              <a:off x="3619500" y="2190750"/>
              <a:ext cx="2286000" cy="381000"/>
            </a:xfrm>
            <a:prstGeom prst="rect">
              <a:avLst/>
            </a:prstGeom>
            <a:noFill/>
            <a:ln>
              <a:noFill/>
            </a:ln>
          </p:spPr>
          <p:txBody>
            <a:bodyPr spcFirstLastPara="1" wrap="square" lIns="0" tIns="0" rIns="0" bIns="0" anchor="b" anchorCtr="0">
              <a:noAutofit/>
            </a:bodyPr>
            <a:lstStyle/>
            <a:p>
              <a:pPr marL="0" lvl="0" indent="0" algn="l" rtl="0">
                <a:spcBef>
                  <a:spcPts val="0"/>
                </a:spcBef>
                <a:spcAft>
                  <a:spcPts val="0"/>
                </a:spcAft>
                <a:buNone/>
              </a:pPr>
              <a:r>
                <a:rPr lang="en-GB" sz="1400" b="1">
                  <a:solidFill>
                    <a:srgbClr val="3182CE"/>
                  </a:solidFill>
                  <a:latin typeface="Helvetica Neue"/>
                  <a:ea typeface="Helvetica Neue"/>
                  <a:cs typeface="Helvetica Neue"/>
                  <a:sym typeface="Helvetica Neue"/>
                </a:rPr>
                <a:t>Short-Term Actions</a:t>
              </a:r>
              <a:endParaRPr sz="1400" b="1">
                <a:solidFill>
                  <a:srgbClr val="3182CE"/>
                </a:solidFill>
                <a:latin typeface="Helvetica Neue"/>
                <a:ea typeface="Helvetica Neue"/>
                <a:cs typeface="Helvetica Neue"/>
                <a:sym typeface="Helvetica Neue"/>
              </a:endParaRPr>
            </a:p>
            <a:p>
              <a:pPr marL="0" lvl="0" indent="0" algn="l" rtl="0">
                <a:spcBef>
                  <a:spcPts val="0"/>
                </a:spcBef>
                <a:spcAft>
                  <a:spcPts val="0"/>
                </a:spcAft>
                <a:buNone/>
              </a:pPr>
              <a:r>
                <a:rPr lang="en-GB" sz="1100" b="0">
                  <a:solidFill>
                    <a:srgbClr val="718096"/>
                  </a:solidFill>
                  <a:latin typeface="Helvetica Neue Light"/>
                  <a:ea typeface="Helvetica Neue Light"/>
                  <a:cs typeface="Helvetica Neue Light"/>
                  <a:sym typeface="Helvetica Neue Light"/>
                </a:rPr>
                <a:t>1–3 Weeks</a:t>
              </a:r>
              <a:endParaRPr sz="1100" b="0">
                <a:solidFill>
                  <a:srgbClr val="718096"/>
                </a:solidFill>
                <a:latin typeface="Helvetica Neue Light"/>
                <a:ea typeface="Helvetica Neue Light"/>
                <a:cs typeface="Helvetica Neue Light"/>
                <a:sym typeface="Helvetica Neue Light"/>
              </a:endParaRPr>
            </a:p>
          </p:txBody>
        </p:sp>
        <p:sp>
          <p:nvSpPr>
            <p:cNvPr id="218" name="Google Shape;218;p20"/>
            <p:cNvSpPr/>
            <p:nvPr/>
          </p:nvSpPr>
          <p:spPr>
            <a:xfrm>
              <a:off x="3619500" y="2857500"/>
              <a:ext cx="2286000" cy="1333500"/>
            </a:xfrm>
            <a:prstGeom prst="roundRect">
              <a:avLst>
                <a:gd name="adj" fmla="val 5714"/>
              </a:avLst>
            </a:prstGeom>
            <a:solidFill>
              <a:srgbClr val="F7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9" name="Google Shape;219;p20"/>
            <p:cNvSpPr/>
            <p:nvPr/>
          </p:nvSpPr>
          <p:spPr>
            <a:xfrm>
              <a:off x="3619500" y="2857500"/>
              <a:ext cx="47700" cy="1333500"/>
            </a:xfrm>
            <a:prstGeom prst="rect">
              <a:avLst/>
            </a:prstGeom>
            <a:solidFill>
              <a:srgbClr val="3182C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20" name="Google Shape;220;p20"/>
            <p:cNvSpPr txBox="1"/>
            <p:nvPr/>
          </p:nvSpPr>
          <p:spPr>
            <a:xfrm>
              <a:off x="3762375" y="3000375"/>
              <a:ext cx="2000100" cy="1047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200" b="1">
                  <a:solidFill>
                    <a:srgbClr val="2D3748"/>
                  </a:solidFill>
                  <a:latin typeface="Arial"/>
                  <a:ea typeface="Arial"/>
                  <a:cs typeface="Arial"/>
                  <a:sym typeface="Arial"/>
                </a:rPr>
                <a:t>Supplier Remediation</a:t>
              </a:r>
              <a:endParaRPr sz="1200" b="1">
                <a:solidFill>
                  <a:srgbClr val="2D3748"/>
                </a:solidFill>
                <a:latin typeface="Arial"/>
                <a:ea typeface="Arial"/>
                <a:cs typeface="Arial"/>
                <a:sym typeface="Arial"/>
              </a:endParaRPr>
            </a:p>
            <a:p>
              <a:pPr marL="0" lvl="0" indent="0" algn="l" rtl="0">
                <a:spcBef>
                  <a:spcPts val="0"/>
                </a:spcBef>
                <a:spcAft>
                  <a:spcPts val="0"/>
                </a:spcAft>
                <a:buNone/>
              </a:pPr>
              <a:r>
                <a:rPr lang="en-GB" sz="1100" b="0">
                  <a:solidFill>
                    <a:srgbClr val="4A5568"/>
                  </a:solidFill>
                  <a:latin typeface="Arial"/>
                  <a:ea typeface="Arial"/>
                  <a:cs typeface="Arial"/>
                  <a:sym typeface="Arial"/>
                </a:rPr>
                <a:t>Addressing audit gaps</a:t>
              </a:r>
              <a:endParaRPr sz="1100" b="0">
                <a:solidFill>
                  <a:srgbClr val="4A5568"/>
                </a:solidFill>
                <a:latin typeface="Arial"/>
                <a:ea typeface="Arial"/>
                <a:cs typeface="Arial"/>
                <a:sym typeface="Arial"/>
              </a:endParaRPr>
            </a:p>
            <a:p>
              <a:pPr marL="0" lvl="0" indent="0" algn="l" rtl="0">
                <a:spcBef>
                  <a:spcPts val="900"/>
                </a:spcBef>
                <a:spcAft>
                  <a:spcPts val="0"/>
                </a:spcAft>
                <a:buNone/>
              </a:pPr>
              <a:r>
                <a:rPr lang="en-GB" sz="1200" b="1">
                  <a:solidFill>
                    <a:srgbClr val="2D3748"/>
                  </a:solidFill>
                  <a:latin typeface="Arial"/>
                  <a:ea typeface="Arial"/>
                  <a:cs typeface="Arial"/>
                  <a:sym typeface="Arial"/>
                </a:rPr>
                <a:t>Alt Qualification</a:t>
              </a:r>
              <a:endParaRPr sz="1200" b="1">
                <a:solidFill>
                  <a:srgbClr val="2D3748"/>
                </a:solidFill>
                <a:latin typeface="Arial"/>
                <a:ea typeface="Arial"/>
                <a:cs typeface="Arial"/>
                <a:sym typeface="Arial"/>
              </a:endParaRPr>
            </a:p>
            <a:p>
              <a:pPr marL="0" lvl="0" indent="0" algn="l" rtl="0">
                <a:spcBef>
                  <a:spcPts val="0"/>
                </a:spcBef>
                <a:spcAft>
                  <a:spcPts val="0"/>
                </a:spcAft>
                <a:buNone/>
              </a:pPr>
              <a:r>
                <a:rPr lang="en-GB" sz="1100" b="0">
                  <a:solidFill>
                    <a:srgbClr val="4A5568"/>
                  </a:solidFill>
                  <a:latin typeface="Arial"/>
                  <a:ea typeface="Arial"/>
                  <a:cs typeface="Arial"/>
                  <a:sym typeface="Arial"/>
                </a:rPr>
                <a:t>Secondary sourcing</a:t>
              </a:r>
              <a:endParaRPr sz="1100" b="0">
                <a:solidFill>
                  <a:srgbClr val="4A5568"/>
                </a:solidFill>
                <a:latin typeface="Arial"/>
                <a:ea typeface="Arial"/>
                <a:cs typeface="Arial"/>
                <a:sym typeface="Arial"/>
              </a:endParaRPr>
            </a:p>
          </p:txBody>
        </p:sp>
      </p:grpSp>
      <p:grpSp>
        <p:nvGrpSpPr>
          <p:cNvPr id="221" name="Google Shape;221;p20"/>
          <p:cNvGrpSpPr/>
          <p:nvPr/>
        </p:nvGrpSpPr>
        <p:grpSpPr>
          <a:xfrm>
            <a:off x="6286500" y="2190750"/>
            <a:ext cx="2286000" cy="2000250"/>
            <a:chOff x="6286500" y="2190750"/>
            <a:chExt cx="2286000" cy="2000250"/>
          </a:xfrm>
        </p:grpSpPr>
        <p:sp>
          <p:nvSpPr>
            <p:cNvPr id="222" name="Google Shape;222;p20"/>
            <p:cNvSpPr txBox="1"/>
            <p:nvPr/>
          </p:nvSpPr>
          <p:spPr>
            <a:xfrm>
              <a:off x="6286500" y="2190750"/>
              <a:ext cx="2286000" cy="381000"/>
            </a:xfrm>
            <a:prstGeom prst="rect">
              <a:avLst/>
            </a:prstGeom>
            <a:noFill/>
            <a:ln>
              <a:noFill/>
            </a:ln>
          </p:spPr>
          <p:txBody>
            <a:bodyPr spcFirstLastPara="1" wrap="square" lIns="0" tIns="0" rIns="0" bIns="0" anchor="b" anchorCtr="0">
              <a:noAutofit/>
            </a:bodyPr>
            <a:lstStyle/>
            <a:p>
              <a:pPr marL="0" lvl="0" indent="0" algn="l" rtl="0">
                <a:spcBef>
                  <a:spcPts val="0"/>
                </a:spcBef>
                <a:spcAft>
                  <a:spcPts val="0"/>
                </a:spcAft>
                <a:buNone/>
              </a:pPr>
              <a:r>
                <a:rPr lang="en-GB" sz="1400" b="1">
                  <a:solidFill>
                    <a:srgbClr val="3182CE"/>
                  </a:solidFill>
                  <a:latin typeface="Helvetica Neue"/>
                  <a:ea typeface="Helvetica Neue"/>
                  <a:cs typeface="Helvetica Neue"/>
                  <a:sym typeface="Helvetica Neue"/>
                </a:rPr>
                <a:t>Ongoing Actions</a:t>
              </a:r>
              <a:endParaRPr sz="1400" b="1">
                <a:solidFill>
                  <a:srgbClr val="3182CE"/>
                </a:solidFill>
                <a:latin typeface="Helvetica Neue"/>
                <a:ea typeface="Helvetica Neue"/>
                <a:cs typeface="Helvetica Neue"/>
                <a:sym typeface="Helvetica Neue"/>
              </a:endParaRPr>
            </a:p>
            <a:p>
              <a:pPr marL="0" lvl="0" indent="0" algn="l" rtl="0">
                <a:spcBef>
                  <a:spcPts val="0"/>
                </a:spcBef>
                <a:spcAft>
                  <a:spcPts val="0"/>
                </a:spcAft>
                <a:buNone/>
              </a:pPr>
              <a:r>
                <a:rPr lang="en-GB" sz="1100" b="0">
                  <a:solidFill>
                    <a:srgbClr val="718096"/>
                  </a:solidFill>
                  <a:latin typeface="Helvetica Neue Light"/>
                  <a:ea typeface="Helvetica Neue Light"/>
                  <a:cs typeface="Helvetica Neue Light"/>
                  <a:sym typeface="Helvetica Neue Light"/>
                </a:rPr>
                <a:t>Business as Usual</a:t>
              </a:r>
              <a:endParaRPr sz="1100" b="0">
                <a:solidFill>
                  <a:srgbClr val="718096"/>
                </a:solidFill>
                <a:latin typeface="Helvetica Neue Light"/>
                <a:ea typeface="Helvetica Neue Light"/>
                <a:cs typeface="Helvetica Neue Light"/>
                <a:sym typeface="Helvetica Neue Light"/>
              </a:endParaRPr>
            </a:p>
          </p:txBody>
        </p:sp>
        <p:sp>
          <p:nvSpPr>
            <p:cNvPr id="223" name="Google Shape;223;p20"/>
            <p:cNvSpPr/>
            <p:nvPr/>
          </p:nvSpPr>
          <p:spPr>
            <a:xfrm>
              <a:off x="6286500" y="2857500"/>
              <a:ext cx="2286000" cy="1333500"/>
            </a:xfrm>
            <a:prstGeom prst="roundRect">
              <a:avLst>
                <a:gd name="adj" fmla="val 5714"/>
              </a:avLst>
            </a:prstGeom>
            <a:solidFill>
              <a:srgbClr val="F7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24" name="Google Shape;224;p20"/>
            <p:cNvSpPr/>
            <p:nvPr/>
          </p:nvSpPr>
          <p:spPr>
            <a:xfrm>
              <a:off x="6286500" y="2857500"/>
              <a:ext cx="47700" cy="1333500"/>
            </a:xfrm>
            <a:prstGeom prst="rect">
              <a:avLst/>
            </a:prstGeom>
            <a:solidFill>
              <a:srgbClr val="3182C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25" name="Google Shape;225;p20"/>
            <p:cNvSpPr txBox="1"/>
            <p:nvPr/>
          </p:nvSpPr>
          <p:spPr>
            <a:xfrm>
              <a:off x="6429375" y="2952750"/>
              <a:ext cx="2000100" cy="1143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200" b="1">
                  <a:solidFill>
                    <a:srgbClr val="2D3748"/>
                  </a:solidFill>
                  <a:latin typeface="Arial"/>
                  <a:ea typeface="Arial"/>
                  <a:cs typeface="Arial"/>
                  <a:sym typeface="Arial"/>
                </a:rPr>
                <a:t>• KPI Monitoring</a:t>
              </a:r>
              <a:endParaRPr sz="1200" b="1">
                <a:solidFill>
                  <a:srgbClr val="2D3748"/>
                </a:solidFill>
                <a:latin typeface="Arial"/>
                <a:ea typeface="Arial"/>
                <a:cs typeface="Arial"/>
                <a:sym typeface="Arial"/>
              </a:endParaRPr>
            </a:p>
            <a:p>
              <a:pPr marL="0" lvl="0" indent="0" algn="l" rtl="0">
                <a:spcBef>
                  <a:spcPts val="300"/>
                </a:spcBef>
                <a:spcAft>
                  <a:spcPts val="0"/>
                </a:spcAft>
                <a:buNone/>
              </a:pPr>
              <a:r>
                <a:rPr lang="en-GB" sz="1200" b="1">
                  <a:solidFill>
                    <a:srgbClr val="2D3748"/>
                  </a:solidFill>
                  <a:latin typeface="Arial"/>
                  <a:ea typeface="Arial"/>
                  <a:cs typeface="Arial"/>
                  <a:sym typeface="Arial"/>
                </a:rPr>
                <a:t>• Weekly Governance</a:t>
              </a:r>
              <a:endParaRPr sz="1200" b="1">
                <a:solidFill>
                  <a:srgbClr val="2D3748"/>
                </a:solidFill>
                <a:latin typeface="Arial"/>
                <a:ea typeface="Arial"/>
                <a:cs typeface="Arial"/>
                <a:sym typeface="Arial"/>
              </a:endParaRPr>
            </a:p>
            <a:p>
              <a:pPr marL="0" lvl="0" indent="0" algn="l" rtl="0">
                <a:spcBef>
                  <a:spcPts val="300"/>
                </a:spcBef>
                <a:spcAft>
                  <a:spcPts val="0"/>
                </a:spcAft>
                <a:buNone/>
              </a:pPr>
              <a:r>
                <a:rPr lang="en-GB" sz="1200" b="1">
                  <a:solidFill>
                    <a:srgbClr val="2D3748"/>
                  </a:solidFill>
                  <a:latin typeface="Arial"/>
                  <a:ea typeface="Arial"/>
                  <a:cs typeface="Arial"/>
                  <a:sym typeface="Arial"/>
                </a:rPr>
                <a:t>• Compliance Reviews</a:t>
              </a:r>
              <a:endParaRPr sz="1200" b="1">
                <a:solidFill>
                  <a:srgbClr val="2D3748"/>
                </a:solidFill>
                <a:latin typeface="Arial"/>
                <a:ea typeface="Arial"/>
                <a:cs typeface="Arial"/>
                <a:sym typeface="Arial"/>
              </a:endParaRPr>
            </a:p>
            <a:p>
              <a:pPr marL="0" lvl="0" indent="0" algn="l" rtl="0">
                <a:spcBef>
                  <a:spcPts val="300"/>
                </a:spcBef>
                <a:spcAft>
                  <a:spcPts val="0"/>
                </a:spcAft>
                <a:buNone/>
              </a:pPr>
              <a:r>
                <a:rPr lang="en-GB" sz="1100" b="0">
                  <a:solidFill>
                    <a:srgbClr val="4A5568"/>
                  </a:solidFill>
                  <a:latin typeface="Arial"/>
                  <a:ea typeface="Arial"/>
                  <a:cs typeface="Arial"/>
                  <a:sym typeface="Arial"/>
                </a:rPr>
                <a:t>Real-time oversight</a:t>
              </a:r>
              <a:endParaRPr sz="1100" b="0">
                <a:solidFill>
                  <a:srgbClr val="4A5568"/>
                </a:solidFill>
                <a:latin typeface="Arial"/>
                <a:ea typeface="Arial"/>
                <a:cs typeface="Arial"/>
                <a:sym typeface="Arial"/>
              </a:endParaRPr>
            </a:p>
          </p:txBody>
        </p:sp>
      </p:grpSp>
      <p:sp>
        <p:nvSpPr>
          <p:cNvPr id="226" name="Google Shape;226;p20"/>
          <p:cNvSpPr/>
          <p:nvPr/>
        </p:nvSpPr>
        <p:spPr>
          <a:xfrm>
            <a:off x="571500" y="4810125"/>
            <a:ext cx="114300" cy="114300"/>
          </a:xfrm>
          <a:prstGeom prst="roundRect">
            <a:avLst>
              <a:gd name="adj" fmla="val 16666"/>
            </a:avLst>
          </a:prstGeom>
          <a:solidFill>
            <a:srgbClr val="3182C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27" name="Google Shape;227;p20"/>
          <p:cNvSpPr txBox="1"/>
          <p:nvPr/>
        </p:nvSpPr>
        <p:spPr>
          <a:xfrm>
            <a:off x="762000" y="4781550"/>
            <a:ext cx="28575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000" b="0">
                <a:solidFill>
                  <a:srgbClr val="718096"/>
                </a:solidFill>
                <a:latin typeface="Arial"/>
                <a:ea typeface="Arial"/>
                <a:cs typeface="Arial"/>
                <a:sym typeface="Arial"/>
              </a:rPr>
              <a:t>EXECUTIVE LEADERSHIP BRIEFING</a:t>
            </a:r>
            <a:endParaRPr sz="1000" b="0">
              <a:solidFill>
                <a:srgbClr val="718096"/>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733</Words>
  <Application>Microsoft Office PowerPoint</Application>
  <PresentationFormat>On-screen Show (16:9)</PresentationFormat>
  <Paragraphs>90</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Helvetica Neue Light</vt:lpstr>
      <vt:lpstr>Helvetica Neue</vt:lpstr>
      <vt:lpstr>Arial</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Shreya Kothiyal</cp:lastModifiedBy>
  <cp:revision>1</cp:revision>
  <dcterms:modified xsi:type="dcterms:W3CDTF">2026-06-12T08:41:00Z</dcterms:modified>
</cp:coreProperties>
</file>