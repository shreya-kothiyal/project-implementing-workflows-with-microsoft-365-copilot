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9" r:id="rId2"/>
    <p:sldId id="261" r:id="rId3"/>
    <p:sldId id="263" r:id="rId4"/>
    <p:sldId id="265" r:id="rId5"/>
    <p:sldId id="264" r:id="rId6"/>
    <p:sldId id="266" r:id="rId7"/>
    <p:sldId id="270" r:id="rId8"/>
    <p:sldId id="271" r:id="rId9"/>
    <p:sldId id="269" r:id="rId10"/>
    <p:sldId id="273" r:id="rId11"/>
  </p:sldIdLst>
  <p:sldSz cx="12192000" cy="6858000"/>
  <p:notesSz cx="6858000" cy="9144000"/>
  <p:embeddedFontLst>
    <p:embeddedFont>
      <p:font typeface="Lexend" panose="020B0604020202020204" charset="0"/>
      <p:regular r:id="rId13"/>
      <p:bold r:id="rId14"/>
    </p:embeddedFont>
    <p:embeddedFont>
      <p:font typeface="Lexend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790" b="0" i="0" u="none" strike="noStrike">
                <a:solidFill>
                  <a:srgbClr val="363636"/>
                </a:solidFill>
                <a:latin typeface="Lexend"/>
              </a:defRPr>
            </a:pPr>
            <a:r>
              <a:rPr sz="790" b="0" i="0" u="none" strike="noStrike">
                <a:solidFill>
                  <a:srgbClr val="363636"/>
                </a:solidFill>
                <a:latin typeface="Lexend"/>
              </a:rPr>
              <a:t>On-Time Delivery Rates by Component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Rate (%)</c:v>
                </c:pt>
              </c:strCache>
            </c:strRef>
          </c:tx>
          <c:spPr>
            <a:solidFill>
              <a:srgbClr val="858E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39-473F-BE68-9F40A11AC1F4}"/>
              </c:ext>
            </c:extLst>
          </c:dPt>
          <c:dPt>
            <c:idx val="1"/>
            <c:invertIfNegative val="0"/>
            <c:bubble3D val="0"/>
            <c:spPr>
              <a:solidFill>
                <a:srgbClr val="FFB0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39-473F-BE68-9F40A11AC1F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39-473F-BE68-9F40A11AC1F4}"/>
              </c:ext>
            </c:extLst>
          </c:dPt>
          <c:cat>
            <c:strRef>
              <c:f>Sheet1!$A$2:$A$4</c:f>
              <c:strCache>
                <c:ptCount val="3"/>
                <c:pt idx="0">
                  <c:v>BIND567</c:v>
                </c:pt>
                <c:pt idx="1">
                  <c:v>CARB123</c:v>
                </c:pt>
                <c:pt idx="2">
                  <c:v>COAT890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90.25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A39-473F-BE68-9F40A11AC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6B7280"/>
            </a:solidFill>
            <a:prstDash val="solid"/>
            <a:round/>
          </a:ln>
        </c:spPr>
        <c:txPr>
          <a:bodyPr/>
          <a:lstStyle/>
          <a:p>
            <a:pPr>
              <a:defRPr sz="680" b="0" i="0" u="none" strike="noStrike">
                <a:solidFill>
                  <a:srgbClr val="000000"/>
                </a:solidFill>
                <a:latin typeface="Lexen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80" b="0" i="0" u="none" strike="noStrike">
                    <a:solidFill>
                      <a:srgbClr val="000000"/>
                    </a:solidFill>
                    <a:latin typeface="Lexend"/>
                  </a:defRPr>
                </a:pPr>
                <a:r>
                  <a:rPr sz="680" b="0" i="0" u="none" strike="noStrike">
                    <a:solidFill>
                      <a:srgbClr val="000000"/>
                    </a:solidFill>
                    <a:latin typeface="Lexend"/>
                  </a:rPr>
                  <a:t>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B7280"/>
            </a:solidFill>
            <a:prstDash val="solid"/>
            <a:round/>
          </a:ln>
        </c:spPr>
        <c:txPr>
          <a:bodyPr/>
          <a:lstStyle/>
          <a:p>
            <a:pPr>
              <a:defRPr sz="680" b="0" i="0" u="none" strike="noStrike">
                <a:solidFill>
                  <a:srgbClr val="000000"/>
                </a:solidFill>
                <a:latin typeface="Lexe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560">
              <a:latin typeface="Lexend"/>
              <a:cs typeface="Lexend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B1A17-7863-40E7-BECC-4799F04A6F0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70DD5-A3F5-4035-9641-56D82F3C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5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-N6C5LctKgwHHH9IcO-C81"/>
          <p:cNvGrpSpPr/>
          <p:nvPr/>
        </p:nvGrpSpPr>
        <p:grpSpPr>
          <a:xfrm>
            <a:off x="7162800" y="457200"/>
            <a:ext cx="4572000" cy="5943600"/>
            <a:chOff x="5372100" y="342900"/>
            <a:chExt cx="3429000" cy="4457700"/>
          </a:xfrm>
        </p:grpSpPr>
        <p:sp>
          <p:nvSpPr>
            <p:cNvPr id="2" name="42c421c8-3ff6-455d-85ce-45515ff09554"/>
            <p:cNvSpPr/>
            <p:nvPr/>
          </p:nvSpPr>
          <p:spPr>
            <a:xfrm>
              <a:off x="5372100" y="342900"/>
              <a:ext cx="3429000" cy="4457700"/>
            </a:xfrm>
            <a:prstGeom prst="roundRect">
              <a:avLst>
                <a:gd name="adj" fmla="val 6667"/>
              </a:avLst>
            </a:prstGeom>
            <a:noFill/>
            <a:ln/>
            <a:effectLst>
              <a:outerShdw blurRad="266700" dist="139700" dir="5400000" algn="bl" rotWithShape="0">
                <a:srgbClr val="000000">
                  <a:alpha val="1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pic>
          <p:nvPicPr>
            <p:cNvPr id="6" name="slidesai_h3YhmYo1::image-1" descr="slidesai_h3YhmYo1::image-1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372100" y="342900"/>
              <a:ext cx="3429000" cy="4457700"/>
            </a:xfrm>
            <a:prstGeom prst="rect">
              <a:avLst/>
            </a:prstGeom>
          </p:spPr>
        </p:pic>
        <p:pic>
          <p:nvPicPr>
            <p:cNvPr id="7" name="076dd6a7-73af-48b9-abe5-a66e11216f0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72100" y="342900"/>
              <a:ext cx="3429000" cy="4457700"/>
            </a:xfrm>
            <a:prstGeom prst="rect">
              <a:avLst/>
            </a:prstGeom>
          </p:spPr>
        </p:pic>
      </p:grpSp>
      <p:sp>
        <p:nvSpPr>
          <p:cNvPr id="3" name="24ece9f7-3d69-44c3-8026-f03bf5a765cd"/>
          <p:cNvSpPr/>
          <p:nvPr/>
        </p:nvSpPr>
        <p:spPr>
          <a:xfrm>
            <a:off x="457200" y="1676401"/>
            <a:ext cx="6115051" cy="142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625"/>
              </a:lnSpc>
              <a:buNone/>
            </a:pPr>
            <a:r>
              <a:rPr lang="en-US" sz="4507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Supply Chain Risk Overview</a:t>
            </a:r>
            <a:endParaRPr lang="en-US" sz="4507" dirty="0"/>
          </a:p>
        </p:txBody>
      </p:sp>
      <p:sp>
        <p:nvSpPr>
          <p:cNvPr id="4" name="1405e649-0725-4c8d-a7b4-9cd0f9764334"/>
          <p:cNvSpPr/>
          <p:nvPr/>
        </p:nvSpPr>
        <p:spPr>
          <a:xfrm>
            <a:off x="457200" y="3409951"/>
            <a:ext cx="914400" cy="76200"/>
          </a:xfrm>
          <a:prstGeom prst="rect">
            <a:avLst/>
          </a:prstGeom>
          <a:solidFill>
            <a:srgbClr val="858EFF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f00d4494-24c8-4924-8d48-e9bd1861c64a"/>
          <p:cNvSpPr/>
          <p:nvPr/>
        </p:nvSpPr>
        <p:spPr>
          <a:xfrm>
            <a:off x="457200" y="3790951"/>
            <a:ext cx="5505451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68"/>
              </a:lnSpc>
              <a:buNone/>
            </a:pPr>
            <a:r>
              <a:rPr lang="en-US" sz="2253" dirty="0">
                <a:solidFill>
                  <a:srgbClr val="000000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Overview- supply chain risks affecting </a:t>
            </a:r>
            <a:r>
              <a:rPr lang="en-US" sz="2253" b="1" dirty="0">
                <a:solidFill>
                  <a:srgbClr val="000000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FDA compliance</a:t>
            </a:r>
            <a:r>
              <a:rPr lang="en-US" sz="2253" dirty="0">
                <a:solidFill>
                  <a:srgbClr val="000000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&amp; production continuity</a:t>
            </a:r>
            <a:endParaRPr lang="en-US" sz="2253" dirty="0"/>
          </a:p>
        </p:txBody>
      </p:sp>
    </p:spTree>
    <p:extLst>
      <p:ext uri="{BB962C8B-B14F-4D97-AF65-F5344CB8AC3E}">
        <p14:creationId xmlns:p14="http://schemas.microsoft.com/office/powerpoint/2010/main" val="2643687994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4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4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3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e15471e-4801-44fb-92c4-46e16394007c"/>
          <p:cNvSpPr/>
          <p:nvPr/>
        </p:nvSpPr>
        <p:spPr>
          <a:xfrm>
            <a:off x="457201" y="457200"/>
            <a:ext cx="11315700" cy="457200"/>
          </a:xfrm>
          <a:prstGeom prst="rect">
            <a:avLst/>
          </a:prstGeom>
          <a:noFill/>
          <a:ln/>
        </p:spPr>
        <p:txBody>
          <a:bodyPr wrap="none" lIns="30480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Primary Quality and Traceability Issues</a:t>
            </a:r>
            <a:endParaRPr lang="en-US" sz="3600" dirty="0"/>
          </a:p>
        </p:txBody>
      </p:sp>
      <p:sp>
        <p:nvSpPr>
          <p:cNvPr id="3" name="2e15471e-4801-44fb-92c4-46e16394007c::border-strip-left"/>
          <p:cNvSpPr/>
          <p:nvPr/>
        </p:nvSpPr>
        <p:spPr>
          <a:xfrm>
            <a:off x="457200" y="457200"/>
            <a:ext cx="76200" cy="457200"/>
          </a:xfrm>
          <a:prstGeom prst="rect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</p:sp>
      <p:grpSp>
        <p:nvGrpSpPr>
          <p:cNvPr id="22" name="group-TxU2Cb0yWsC2fIaJnCTvM"/>
          <p:cNvGrpSpPr/>
          <p:nvPr/>
        </p:nvGrpSpPr>
        <p:grpSpPr>
          <a:xfrm>
            <a:off x="457201" y="1524000"/>
            <a:ext cx="3562351" cy="3810000"/>
            <a:chOff x="342900" y="1143000"/>
            <a:chExt cx="2671763" cy="2857500"/>
          </a:xfrm>
        </p:grpSpPr>
        <p:sp>
          <p:nvSpPr>
            <p:cNvPr id="4" name="a8a1bb62-2249-48df-b128-c0e464601a96"/>
            <p:cNvSpPr/>
            <p:nvPr/>
          </p:nvSpPr>
          <p:spPr>
            <a:xfrm>
              <a:off x="342900" y="1143000"/>
              <a:ext cx="2671763" cy="2857500"/>
            </a:xfrm>
            <a:prstGeom prst="roundRect">
              <a:avLst>
                <a:gd name="adj" fmla="val 6417"/>
              </a:avLst>
            </a:prstGeom>
            <a:solidFill>
              <a:srgbClr val="FFFFFF"/>
            </a:solidFill>
            <a:ln w="12700">
              <a:solidFill>
                <a:srgbClr val="E7E7E7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19" name="group-iyuRQ1E748ZokhIazGkc7"/>
            <p:cNvGrpSpPr/>
            <p:nvPr/>
          </p:nvGrpSpPr>
          <p:grpSpPr>
            <a:xfrm>
              <a:off x="1393031" y="1378744"/>
              <a:ext cx="571500" cy="571500"/>
              <a:chOff x="1393031" y="1378744"/>
              <a:chExt cx="571500" cy="571500"/>
            </a:xfrm>
          </p:grpSpPr>
          <p:sp>
            <p:nvSpPr>
              <p:cNvPr id="7" name="slidesai_ft0DMc1l::icon-1"/>
              <p:cNvSpPr/>
              <p:nvPr/>
            </p:nvSpPr>
            <p:spPr>
              <a:xfrm>
                <a:off x="1393031" y="1378744"/>
                <a:ext cx="5715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F3F3FF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6" name="a208b1a1-d220-420c-8dbc-304f1019de3c" descr="a208b1a1-d220-420c-8dbc-304f1019de3c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5906" y="1521619"/>
                <a:ext cx="285750" cy="285750"/>
              </a:xfrm>
              <a:prstGeom prst="rect">
                <a:avLst/>
              </a:prstGeom>
            </p:spPr>
          </p:pic>
        </p:grpSp>
        <p:sp>
          <p:nvSpPr>
            <p:cNvPr id="8" name="badf44c7-def5-4e7c-b49b-454db69e32b4"/>
            <p:cNvSpPr/>
            <p:nvPr/>
          </p:nvSpPr>
          <p:spPr>
            <a:xfrm>
              <a:off x="1266188" y="2121694"/>
              <a:ext cx="853762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BIND567</a:t>
              </a:r>
              <a:endParaRPr lang="en-US" sz="1800" dirty="0"/>
            </a:p>
          </p:txBody>
        </p:sp>
        <p:sp>
          <p:nvSpPr>
            <p:cNvPr id="9" name="c6769bbb-18e5-44b6-8662-5cadf8b97bdb"/>
            <p:cNvSpPr/>
            <p:nvPr/>
          </p:nvSpPr>
          <p:spPr>
            <a:xfrm>
              <a:off x="578644" y="2464594"/>
              <a:ext cx="2214563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dirty="0">
                  <a:solidFill>
                    <a:srgbClr val="000000">
                      <a:alpha val="7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Quality failures affecting production standards.</a:t>
              </a:r>
              <a:endParaRPr lang="en-US" sz="1507" dirty="0"/>
            </a:p>
          </p:txBody>
        </p:sp>
      </p:grpSp>
      <p:grpSp>
        <p:nvGrpSpPr>
          <p:cNvPr id="23" name="group-e2GjwgN1CaYt5wuJqCwzO"/>
          <p:cNvGrpSpPr/>
          <p:nvPr/>
        </p:nvGrpSpPr>
        <p:grpSpPr>
          <a:xfrm>
            <a:off x="4314826" y="1524000"/>
            <a:ext cx="3562351" cy="3810000"/>
            <a:chOff x="3236119" y="1143000"/>
            <a:chExt cx="2671763" cy="2857500"/>
          </a:xfrm>
        </p:grpSpPr>
        <p:sp>
          <p:nvSpPr>
            <p:cNvPr id="5" name="9455db7f-41b4-4b2b-9ec2-d6bcc6cd83dd"/>
            <p:cNvSpPr/>
            <p:nvPr/>
          </p:nvSpPr>
          <p:spPr>
            <a:xfrm>
              <a:off x="3236119" y="1143000"/>
              <a:ext cx="2671763" cy="2857500"/>
            </a:xfrm>
            <a:prstGeom prst="roundRect">
              <a:avLst>
                <a:gd name="adj" fmla="val 6417"/>
              </a:avLst>
            </a:prstGeom>
            <a:solidFill>
              <a:srgbClr val="FFFFFF"/>
            </a:solidFill>
            <a:ln w="12700">
              <a:solidFill>
                <a:srgbClr val="E7E7E7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0" name="group-wBvX9na6nuWvki619-w7N"/>
            <p:cNvGrpSpPr/>
            <p:nvPr/>
          </p:nvGrpSpPr>
          <p:grpSpPr>
            <a:xfrm>
              <a:off x="4286250" y="1378744"/>
              <a:ext cx="571500" cy="571500"/>
              <a:chOff x="4286250" y="1378744"/>
              <a:chExt cx="571500" cy="571500"/>
            </a:xfrm>
          </p:grpSpPr>
          <p:sp>
            <p:nvSpPr>
              <p:cNvPr id="10" name="slidesai_ft0DMc1l::icon-2"/>
              <p:cNvSpPr/>
              <p:nvPr/>
            </p:nvSpPr>
            <p:spPr>
              <a:xfrm>
                <a:off x="4286250" y="1378744"/>
                <a:ext cx="5715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FFF7F4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7" name="16ba76a2-fe14-4d68-b23c-4b8b41d7e26e" descr="16ba76a2-fe14-4d68-b23c-4b8b41d7e26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9125" y="1521619"/>
                <a:ext cx="285750" cy="285750"/>
              </a:xfrm>
              <a:prstGeom prst="rect">
                <a:avLst/>
              </a:prstGeom>
            </p:spPr>
          </p:pic>
        </p:grpSp>
        <p:sp>
          <p:nvSpPr>
            <p:cNvPr id="11" name="b4b1db18-5a8f-423c-98e7-06f6cc7bd3fd"/>
            <p:cNvSpPr/>
            <p:nvPr/>
          </p:nvSpPr>
          <p:spPr>
            <a:xfrm>
              <a:off x="4129574" y="2121694"/>
              <a:ext cx="913426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COMP042</a:t>
              </a:r>
              <a:endParaRPr lang="en-US" sz="1800" dirty="0"/>
            </a:p>
          </p:txBody>
        </p:sp>
        <p:sp>
          <p:nvSpPr>
            <p:cNvPr id="12" name="e5ba6e58-71ba-4711-8b3a-0f62cbfaf7f6"/>
            <p:cNvSpPr/>
            <p:nvPr/>
          </p:nvSpPr>
          <p:spPr>
            <a:xfrm>
              <a:off x="3471863" y="2464594"/>
              <a:ext cx="2214563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dirty="0">
                  <a:solidFill>
                    <a:srgbClr val="000000">
                      <a:alpha val="7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Traceability gaps in the documentation chain.</a:t>
              </a:r>
              <a:endParaRPr lang="en-US" sz="1507" dirty="0"/>
            </a:p>
          </p:txBody>
        </p:sp>
      </p:grpSp>
      <p:grpSp>
        <p:nvGrpSpPr>
          <p:cNvPr id="24" name="group-rWtJTNjYNYSlHKEXcfj8j"/>
          <p:cNvGrpSpPr/>
          <p:nvPr/>
        </p:nvGrpSpPr>
        <p:grpSpPr>
          <a:xfrm>
            <a:off x="8181975" y="1524000"/>
            <a:ext cx="3562351" cy="3810000"/>
            <a:chOff x="6136481" y="1143000"/>
            <a:chExt cx="2671763" cy="2857500"/>
          </a:xfrm>
        </p:grpSpPr>
        <p:sp>
          <p:nvSpPr>
            <p:cNvPr id="6" name="f2f0cff8-6954-4637-a31b-9b8a0f81f564"/>
            <p:cNvSpPr/>
            <p:nvPr/>
          </p:nvSpPr>
          <p:spPr>
            <a:xfrm>
              <a:off x="6136481" y="1143000"/>
              <a:ext cx="2671763" cy="2857500"/>
            </a:xfrm>
            <a:prstGeom prst="roundRect">
              <a:avLst>
                <a:gd name="adj" fmla="val 6417"/>
              </a:avLst>
            </a:prstGeom>
            <a:solidFill>
              <a:srgbClr val="FFFFFF"/>
            </a:solidFill>
            <a:ln w="12700">
              <a:solidFill>
                <a:srgbClr val="E7E7E7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1" name="group-6Xq0_L5St5_-RGdhgAPNM"/>
            <p:cNvGrpSpPr/>
            <p:nvPr/>
          </p:nvGrpSpPr>
          <p:grpSpPr>
            <a:xfrm>
              <a:off x="7186613" y="1378744"/>
              <a:ext cx="571500" cy="571500"/>
              <a:chOff x="7186613" y="1378744"/>
              <a:chExt cx="571500" cy="571500"/>
            </a:xfrm>
          </p:grpSpPr>
          <p:sp>
            <p:nvSpPr>
              <p:cNvPr id="13" name="slidesai_ft0DMc1l::icon-3"/>
              <p:cNvSpPr/>
              <p:nvPr/>
            </p:nvSpPr>
            <p:spPr>
              <a:xfrm>
                <a:off x="7186613" y="1378744"/>
                <a:ext cx="5715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F3F3FF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8" name="a6491586-a079-4526-a70f-af580338a4a0" descr="a6491586-a079-4526-a70f-af580338a4a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29488" y="1521619"/>
                <a:ext cx="285750" cy="285750"/>
              </a:xfrm>
              <a:prstGeom prst="rect">
                <a:avLst/>
              </a:prstGeom>
            </p:spPr>
          </p:pic>
        </p:grpSp>
        <p:sp>
          <p:nvSpPr>
            <p:cNvPr id="14" name="b3aed1bc-f9af-48de-bc6c-cc3006adbd0f"/>
            <p:cNvSpPr/>
            <p:nvPr/>
          </p:nvSpPr>
          <p:spPr>
            <a:xfrm>
              <a:off x="7024536" y="2121694"/>
              <a:ext cx="924227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COMP043</a:t>
              </a:r>
              <a:endParaRPr lang="en-US" sz="1800" dirty="0"/>
            </a:p>
          </p:txBody>
        </p:sp>
        <p:sp>
          <p:nvSpPr>
            <p:cNvPr id="15" name="66094544-d409-4d53-809c-c604bba76310"/>
            <p:cNvSpPr/>
            <p:nvPr/>
          </p:nvSpPr>
          <p:spPr>
            <a:xfrm>
              <a:off x="6372225" y="2464594"/>
              <a:ext cx="2214563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dirty="0">
                  <a:solidFill>
                    <a:srgbClr val="000000">
                      <a:alpha val="7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GMP concerns requiring immediate attention.</a:t>
              </a:r>
              <a:endParaRPr lang="en-US" sz="1507" dirty="0"/>
            </a:p>
          </p:txBody>
        </p:sp>
      </p:grpSp>
    </p:spTree>
    <p:extLst>
      <p:ext uri="{BB962C8B-B14F-4D97-AF65-F5344CB8AC3E}">
        <p14:creationId xmlns:p14="http://schemas.microsoft.com/office/powerpoint/2010/main" val="3539421366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tmFilter="0,0; 0.25,0.578; 0.5,0.875; 0.75,0.984; 1,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tmFilter="0,0; 0.25,0.578; 0.5,0.875; 0.75,0.984; 1,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 tmFilter="0,0; 0.25,0.578; 0.5,0.875; 0.75,0.984; 1,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 tmFilter="0,0; 0.25,0.578; 0.5,0.875; 0.75,0.984; 1,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318ddb5-e66f-4294-a3c0-b309590b7a9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3" name="a64b065e-fbd1-4deb-bb50-798322b618ab"/>
          <p:cNvSpPr/>
          <p:nvPr/>
        </p:nvSpPr>
        <p:spPr>
          <a:xfrm>
            <a:off x="1790700" y="1657351"/>
            <a:ext cx="866535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7" b="1" kern="0" spc="267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OPERATIONAL AND REGULATORY IMPACT</a:t>
            </a:r>
            <a:endParaRPr lang="en-US" sz="2707" dirty="0"/>
          </a:p>
        </p:txBody>
      </p:sp>
      <p:sp>
        <p:nvSpPr>
          <p:cNvPr id="4" name="d311e97d-4786-47e3-b6ca-af7e157472be"/>
          <p:cNvSpPr/>
          <p:nvPr/>
        </p:nvSpPr>
        <p:spPr>
          <a:xfrm>
            <a:off x="1828800" y="2495551"/>
            <a:ext cx="85534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5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These issues increase </a:t>
            </a: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operational risk</a:t>
            </a:r>
            <a:r>
              <a:rPr lang="en-US" sz="36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, </a:t>
            </a: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delays</a:t>
            </a:r>
            <a:r>
              <a:rPr lang="en-US" sz="36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&amp; </a:t>
            </a: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regulatory exposure</a:t>
            </a:r>
            <a:endParaRPr lang="en-US" sz="3600" dirty="0"/>
          </a:p>
        </p:txBody>
      </p:sp>
      <p:grpSp>
        <p:nvGrpSpPr>
          <p:cNvPr id="14" name="group-1FNxB86mNFPKS3mRD8ktS"/>
          <p:cNvGrpSpPr/>
          <p:nvPr/>
        </p:nvGrpSpPr>
        <p:grpSpPr>
          <a:xfrm>
            <a:off x="3781425" y="4248151"/>
            <a:ext cx="609600" cy="609600"/>
            <a:chOff x="2836069" y="3186113"/>
            <a:chExt cx="457200" cy="457200"/>
          </a:xfrm>
        </p:grpSpPr>
        <p:sp>
          <p:nvSpPr>
            <p:cNvPr id="5" name="slidesai_vx0CJohj::icon-4"/>
            <p:cNvSpPr/>
            <p:nvPr/>
          </p:nvSpPr>
          <p:spPr>
            <a:xfrm>
              <a:off x="2836069" y="3186113"/>
              <a:ext cx="457200" cy="457200"/>
            </a:xfrm>
            <a:prstGeom prst="ellipse">
              <a:avLst/>
            </a:prstGeom>
            <a:noFill/>
            <a:ln w="25400">
              <a:solidFill>
                <a:srgbClr val="000000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pic>
          <p:nvPicPr>
            <p:cNvPr id="11" name="9db81429-8025-45e0-ae93-16c6cc096683" descr="9db81429-8025-45e0-ae93-16c6cc09668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0369" y="3300413"/>
              <a:ext cx="228600" cy="228600"/>
            </a:xfrm>
            <a:prstGeom prst="rect">
              <a:avLst/>
            </a:prstGeom>
          </p:spPr>
        </p:pic>
      </p:grpSp>
      <p:sp>
        <p:nvSpPr>
          <p:cNvPr id="6" name="43d7293b-ee1c-4bd0-b218-50b70b04d27e"/>
          <p:cNvSpPr/>
          <p:nvPr/>
        </p:nvSpPr>
        <p:spPr>
          <a:xfrm>
            <a:off x="3819526" y="5010151"/>
            <a:ext cx="620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3" b="1" dirty="0">
                <a:solidFill>
                  <a:srgbClr val="000000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DELAYS</a:t>
            </a:r>
            <a:endParaRPr lang="en-US" sz="1053" dirty="0"/>
          </a:p>
        </p:txBody>
      </p:sp>
      <p:grpSp>
        <p:nvGrpSpPr>
          <p:cNvPr id="15" name="group-8Fc5HWqFRv8u4dKbDkD2f"/>
          <p:cNvGrpSpPr/>
          <p:nvPr/>
        </p:nvGrpSpPr>
        <p:grpSpPr>
          <a:xfrm>
            <a:off x="5238751" y="4248151"/>
            <a:ext cx="609600" cy="609600"/>
            <a:chOff x="3929063" y="3186113"/>
            <a:chExt cx="457200" cy="457200"/>
          </a:xfrm>
        </p:grpSpPr>
        <p:sp>
          <p:nvSpPr>
            <p:cNvPr id="7" name="slidesai_vx0CJohj::icon-5"/>
            <p:cNvSpPr/>
            <p:nvPr/>
          </p:nvSpPr>
          <p:spPr>
            <a:xfrm>
              <a:off x="3929063" y="3186113"/>
              <a:ext cx="457200" cy="457200"/>
            </a:xfrm>
            <a:prstGeom prst="ellipse">
              <a:avLst/>
            </a:prstGeom>
            <a:noFill/>
            <a:ln w="25400">
              <a:solidFill>
                <a:srgbClr val="000000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pic>
          <p:nvPicPr>
            <p:cNvPr id="12" name="36b41e41-ef12-411c-9bf0-1331d2099d22" descr="36b41e41-ef12-411c-9bf0-1331d2099d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43363" y="3300413"/>
              <a:ext cx="228600" cy="228600"/>
            </a:xfrm>
            <a:prstGeom prst="rect">
              <a:avLst/>
            </a:prstGeom>
          </p:spPr>
        </p:pic>
      </p:grpSp>
      <p:sp>
        <p:nvSpPr>
          <p:cNvPr id="8" name="d17b2c3d-31e5-474c-92a7-d7a11ce479fd"/>
          <p:cNvSpPr/>
          <p:nvPr/>
        </p:nvSpPr>
        <p:spPr>
          <a:xfrm>
            <a:off x="4848226" y="5010151"/>
            <a:ext cx="14996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3" b="1" dirty="0">
                <a:solidFill>
                  <a:srgbClr val="000000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OPERATIONAL RISK</a:t>
            </a:r>
            <a:endParaRPr lang="en-US" sz="1053" dirty="0"/>
          </a:p>
        </p:txBody>
      </p:sp>
      <p:grpSp>
        <p:nvGrpSpPr>
          <p:cNvPr id="16" name="group-cop8JDGxYCC2v4FvvzXfM"/>
          <p:cNvGrpSpPr/>
          <p:nvPr/>
        </p:nvGrpSpPr>
        <p:grpSpPr>
          <a:xfrm>
            <a:off x="7258051" y="4248151"/>
            <a:ext cx="609600" cy="609600"/>
            <a:chOff x="5443538" y="3186113"/>
            <a:chExt cx="457200" cy="457200"/>
          </a:xfrm>
        </p:grpSpPr>
        <p:sp>
          <p:nvSpPr>
            <p:cNvPr id="9" name="slidesai_vx0CJohj::icon-6"/>
            <p:cNvSpPr/>
            <p:nvPr/>
          </p:nvSpPr>
          <p:spPr>
            <a:xfrm>
              <a:off x="5443538" y="3186113"/>
              <a:ext cx="457200" cy="457200"/>
            </a:xfrm>
            <a:prstGeom prst="ellipse">
              <a:avLst/>
            </a:prstGeom>
            <a:noFill/>
            <a:ln w="25400">
              <a:solidFill>
                <a:srgbClr val="000000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pic>
          <p:nvPicPr>
            <p:cNvPr id="13" name="a989b600-bf85-4334-b9f0-d2e2e49551f7" descr="a989b600-bf85-4334-b9f0-d2e2e49551f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57838" y="330041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e7a6c8da-e47f-485b-8168-2a7f973497d0"/>
          <p:cNvSpPr/>
          <p:nvPr/>
        </p:nvSpPr>
        <p:spPr>
          <a:xfrm>
            <a:off x="6705601" y="5010151"/>
            <a:ext cx="18041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3" b="1" dirty="0">
                <a:solidFill>
                  <a:srgbClr val="000000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REGULATORY EXPOSURE</a:t>
            </a:r>
            <a:endParaRPr lang="en-US" sz="1053" dirty="0"/>
          </a:p>
        </p:txBody>
      </p:sp>
    </p:spTree>
    <p:extLst>
      <p:ext uri="{BB962C8B-B14F-4D97-AF65-F5344CB8AC3E}">
        <p14:creationId xmlns:p14="http://schemas.microsoft.com/office/powerpoint/2010/main" val="3743893966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14" grpId="0"/>
      <p:bldP spid="6" grpId="0" animBg="1"/>
      <p:bldP spid="15" grpId="0"/>
      <p:bldP spid="8" grpId="0" animBg="1"/>
      <p:bldP spid="16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36fea5c-e76e-482d-95db-67685aa6157d"/>
          <p:cNvSpPr/>
          <p:nvPr/>
        </p:nvSpPr>
        <p:spPr>
          <a:xfrm>
            <a:off x="457201" y="457200"/>
            <a:ext cx="11315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Delivery Timelines by Risk Category</a:t>
            </a:r>
            <a:endParaRPr lang="en-US" sz="3600" dirty="0"/>
          </a:p>
        </p:txBody>
      </p:sp>
      <p:sp>
        <p:nvSpPr>
          <p:cNvPr id="3" name="3b006972-15db-4134-802a-6a155786e522"/>
          <p:cNvSpPr/>
          <p:nvPr/>
        </p:nvSpPr>
        <p:spPr>
          <a:xfrm>
            <a:off x="457200" y="1371601"/>
            <a:ext cx="6391275" cy="3181351"/>
          </a:xfrm>
          <a:prstGeom prst="roundRect">
            <a:avLst>
              <a:gd name="adj" fmla="val 391"/>
            </a:avLst>
          </a:prstGeom>
          <a:solidFill>
            <a:srgbClr val="FFFFFF"/>
          </a:solidFill>
          <a:ln/>
        </p:spPr>
      </p:sp>
      <p:graphicFrame>
        <p:nvGraphicFramePr>
          <p:cNvPr id="4" name="3b006972-15db-4134-802a-6a155786e522"/>
          <p:cNvGraphicFramePr>
            <a:graphicFrameLocks noGrp="1"/>
          </p:cNvGraphicFramePr>
          <p:nvPr/>
        </p:nvGraphicFramePr>
        <p:xfrm>
          <a:off x="457200" y="1371600"/>
          <a:ext cx="6391275" cy="1219200"/>
        </p:xfrm>
        <a:graphic>
          <a:graphicData uri="http://schemas.openxmlformats.org/drawingml/2006/table">
            <a:tbl>
              <a:tblPr/>
              <a:tblGrid>
                <a:gridCol w="238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Risk Category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12" cap="flat" cmpd="sng" algn="ctr">
                      <a:solidFill>
                        <a:srgbClr val="7E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8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Average Delivery Timeline (Days)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12" cap="flat" cmpd="sng" algn="ctr">
                      <a:solidFill>
                        <a:srgbClr val="7E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8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High-risk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7E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11.25 days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7E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Medium-risk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ED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15.13 days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ED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Low-risk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ED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12.86 days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37067" marR="237067" marT="220133" marB="2201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112" cap="flat" cmpd="sng" algn="ctr">
                      <a:solidFill>
                        <a:srgbClr val="ED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oup-J-mb0Oz9ph_UoQYZwoqJM"/>
          <p:cNvGrpSpPr/>
          <p:nvPr/>
        </p:nvGrpSpPr>
        <p:grpSpPr>
          <a:xfrm>
            <a:off x="7305675" y="1371601"/>
            <a:ext cx="4438651" cy="2095500"/>
            <a:chOff x="5479256" y="1028700"/>
            <a:chExt cx="3328988" cy="1571625"/>
          </a:xfrm>
        </p:grpSpPr>
        <p:sp>
          <p:nvSpPr>
            <p:cNvPr id="5" name="be4d6420-4201-4083-8459-98dcec34258f"/>
            <p:cNvSpPr/>
            <p:nvPr/>
          </p:nvSpPr>
          <p:spPr>
            <a:xfrm>
              <a:off x="5479256" y="1028700"/>
              <a:ext cx="3328988" cy="1571625"/>
            </a:xfrm>
            <a:prstGeom prst="roundRect">
              <a:avLst>
                <a:gd name="adj" fmla="val 10909"/>
              </a:avLst>
            </a:prstGeom>
            <a:solidFill>
              <a:srgbClr val="F4ECE9"/>
            </a:solidFill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8" name="3f4a5adf-a137-4d0c-b4bd-ac610abd5a24"/>
            <p:cNvSpPr/>
            <p:nvPr/>
          </p:nvSpPr>
          <p:spPr>
            <a:xfrm>
              <a:off x="5765006" y="1257300"/>
              <a:ext cx="2828925" cy="11144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2933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Medium-risk components</a:t>
              </a:r>
              <a:r>
                <a:rPr lang="en-US" sz="180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 show the longest delivery timeline at </a:t>
              </a: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15.13 days</a:t>
              </a:r>
              <a:r>
                <a:rPr lang="en-US" sz="180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. High-risk average 11.25 days, low-risk 12.86 days</a:t>
              </a:r>
              <a:endParaRPr lang="en-US" sz="1800" dirty="0"/>
            </a:p>
          </p:txBody>
        </p:sp>
      </p:grpSp>
      <p:pic>
        <p:nvPicPr>
          <p:cNvPr id="6" name="be4d6420-4201-4083-8459-98dcec34258f::border-composit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5675" y="1371601"/>
            <a:ext cx="4438651" cy="2095500"/>
          </a:xfrm>
          <a:prstGeom prst="rect">
            <a:avLst/>
          </a:prstGeom>
        </p:spPr>
      </p:pic>
      <p:pic>
        <p:nvPicPr>
          <p:cNvPr id="7" name="slidesai_OGb7xMbD::icon-7" descr="slidesai_OGb7xMbD::icon-7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820400" y="3771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60780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6fa0731-9207-43a8-9790-e81b13d366b3"/>
          <p:cNvSpPr/>
          <p:nvPr/>
        </p:nvSpPr>
        <p:spPr>
          <a:xfrm>
            <a:off x="457201" y="457200"/>
            <a:ext cx="11315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On-Time Delivery Performance Metrics</a:t>
            </a:r>
            <a:endParaRPr lang="en-US" sz="3600" dirty="0"/>
          </a:p>
        </p:txBody>
      </p:sp>
      <p:grpSp>
        <p:nvGrpSpPr>
          <p:cNvPr id="6" name="group-oR8Fz_8ABAJTzsEyULbdf"/>
          <p:cNvGrpSpPr/>
          <p:nvPr/>
        </p:nvGrpSpPr>
        <p:grpSpPr>
          <a:xfrm>
            <a:off x="457200" y="1828800"/>
            <a:ext cx="11277600" cy="3810000"/>
            <a:chOff x="342900" y="1371600"/>
            <a:chExt cx="8458200" cy="2857500"/>
          </a:xfrm>
        </p:grpSpPr>
        <p:sp>
          <p:nvSpPr>
            <p:cNvPr id="3" name="543d83e3-5a17-4b64-b77b-0e794e57b74f"/>
            <p:cNvSpPr/>
            <p:nvPr/>
          </p:nvSpPr>
          <p:spPr>
            <a:xfrm>
              <a:off x="342900" y="1371600"/>
              <a:ext cx="8458200" cy="2857500"/>
            </a:xfrm>
            <a:prstGeom prst="roundRect">
              <a:avLst>
                <a:gd name="adj" fmla="val 6000"/>
              </a:avLst>
            </a:prstGeom>
            <a:solidFill>
              <a:srgbClr val="F3F3F3"/>
            </a:solidFill>
            <a:ln w="12700">
              <a:solidFill>
                <a:srgbClr val="F2F2F2"/>
              </a:solidFill>
            </a:ln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</p:grpSp>
      <p:sp>
        <p:nvSpPr>
          <p:cNvPr id="4" name="f3c22e16-2539-42a8-b4f4-e448e4f2e4ce"/>
          <p:cNvSpPr/>
          <p:nvPr/>
        </p:nvSpPr>
        <p:spPr>
          <a:xfrm>
            <a:off x="457201" y="1219200"/>
            <a:ext cx="1131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0000">
                    <a:alpha val="7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On-time delivery rates are BIND567 99.00%, CARB123 90.25%, and COAT890 84.20%</a:t>
            </a:r>
            <a:endParaRPr lang="en-US" sz="1800" dirty="0"/>
          </a:p>
        </p:txBody>
      </p:sp>
      <p:graphicFrame>
        <p:nvGraphicFramePr>
          <p:cNvPr id="5" name="44d91285-e1e2-46ba-a8a6-084932b79ace" descr="SLIDESAI_CHART:44d91285-e1e2-46ba-a8a6-084932b79ace"/>
          <p:cNvGraphicFramePr/>
          <p:nvPr/>
        </p:nvGraphicFramePr>
        <p:xfrm>
          <a:off x="771526" y="2143126"/>
          <a:ext cx="10648951" cy="3181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69116624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927ca9-293d-46fe-a61e-1e9907683796"/>
          <p:cNvSpPr/>
          <p:nvPr/>
        </p:nvSpPr>
        <p:spPr>
          <a:xfrm>
            <a:off x="457201" y="457200"/>
            <a:ext cx="11315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Supplier Reliability Comparison</a:t>
            </a:r>
            <a:endParaRPr lang="en-US" sz="3600" dirty="0"/>
          </a:p>
        </p:txBody>
      </p:sp>
      <p:grpSp>
        <p:nvGrpSpPr>
          <p:cNvPr id="15" name="group-RypHgKi3szshacSPsrON-"/>
          <p:cNvGrpSpPr/>
          <p:nvPr/>
        </p:nvGrpSpPr>
        <p:grpSpPr>
          <a:xfrm>
            <a:off x="457200" y="1524001"/>
            <a:ext cx="5410200" cy="4000500"/>
            <a:chOff x="342900" y="1143000"/>
            <a:chExt cx="4057650" cy="3000375"/>
          </a:xfrm>
        </p:grpSpPr>
        <p:sp>
          <p:nvSpPr>
            <p:cNvPr id="3" name="475c9f01-0bf6-4670-8405-2ca10432f261"/>
            <p:cNvSpPr/>
            <p:nvPr/>
          </p:nvSpPr>
          <p:spPr>
            <a:xfrm>
              <a:off x="342900" y="1143000"/>
              <a:ext cx="4057650" cy="3000375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/>
            <a:effectLst>
              <a:outerShdw blurRad="139700" dist="1016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7" name="e1b984d0-d159-42dd-b6f6-3a646561d6c9"/>
            <p:cNvSpPr/>
            <p:nvPr/>
          </p:nvSpPr>
          <p:spPr>
            <a:xfrm>
              <a:off x="1655631" y="1900238"/>
              <a:ext cx="1467907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53" b="1" kern="0" spc="107" dirty="0">
                  <a:solidFill>
                    <a:srgbClr val="858E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STRONGEST SUPPLIER</a:t>
              </a:r>
              <a:endParaRPr lang="en-US" sz="1053" dirty="0"/>
            </a:p>
          </p:txBody>
        </p:sp>
        <p:sp>
          <p:nvSpPr>
            <p:cNvPr id="8" name="8fc7dcf2-be6a-4d89-952e-1f71b10bfde7"/>
            <p:cNvSpPr/>
            <p:nvPr/>
          </p:nvSpPr>
          <p:spPr>
            <a:xfrm>
              <a:off x="1665051" y="2157413"/>
              <a:ext cx="1441924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707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EcoSupply</a:t>
              </a:r>
              <a:endParaRPr lang="en-US" sz="2707" dirty="0"/>
            </a:p>
          </p:txBody>
        </p:sp>
        <p:sp>
          <p:nvSpPr>
            <p:cNvPr id="9" name="1fe8ad3e-7781-4bf0-a8a0-3a3556303ac2"/>
            <p:cNvSpPr/>
            <p:nvPr/>
          </p:nvSpPr>
          <p:spPr>
            <a:xfrm>
              <a:off x="1350111" y="2614613"/>
              <a:ext cx="2071802" cy="514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5400" b="1" dirty="0">
                  <a:solidFill>
                    <a:srgbClr val="858E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93.20%</a:t>
              </a:r>
              <a:endParaRPr lang="en-US" sz="5400" dirty="0"/>
            </a:p>
          </p:txBody>
        </p:sp>
        <p:sp>
          <p:nvSpPr>
            <p:cNvPr id="10" name="f42b7900-6051-4dfe-862f-56552b18d49d"/>
            <p:cNvSpPr/>
            <p:nvPr/>
          </p:nvSpPr>
          <p:spPr>
            <a:xfrm>
              <a:off x="1759578" y="3243263"/>
              <a:ext cx="1260014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7" dirty="0">
                  <a:solidFill>
                    <a:srgbClr val="000000">
                      <a:alpha val="6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Reliability Rating</a:t>
              </a:r>
              <a:endParaRPr lang="en-US" sz="1507" dirty="0"/>
            </a:p>
          </p:txBody>
        </p:sp>
      </p:grpSp>
      <p:pic>
        <p:nvPicPr>
          <p:cNvPr id="4" name="475c9f01-0bf6-4670-8405-2ca10432f261::border-composit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524001"/>
            <a:ext cx="5410200" cy="4000500"/>
          </a:xfrm>
          <a:prstGeom prst="rect">
            <a:avLst/>
          </a:prstGeom>
        </p:spPr>
      </p:pic>
      <p:grpSp>
        <p:nvGrpSpPr>
          <p:cNvPr id="16" name="group-mOQ4V80tQ5QBgsMaHEafq"/>
          <p:cNvGrpSpPr/>
          <p:nvPr/>
        </p:nvGrpSpPr>
        <p:grpSpPr>
          <a:xfrm>
            <a:off x="6324600" y="1524001"/>
            <a:ext cx="5410200" cy="4000500"/>
            <a:chOff x="4743450" y="1143000"/>
            <a:chExt cx="4057650" cy="3000375"/>
          </a:xfrm>
        </p:grpSpPr>
        <p:sp>
          <p:nvSpPr>
            <p:cNvPr id="5" name="e03a725e-7438-476f-bc2e-43d6a3e9d36a"/>
            <p:cNvSpPr/>
            <p:nvPr/>
          </p:nvSpPr>
          <p:spPr>
            <a:xfrm>
              <a:off x="4743450" y="1143000"/>
              <a:ext cx="4057650" cy="3000375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/>
            <a:effectLst>
              <a:outerShdw blurRad="139700" dist="1016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1" name="37d25b3c-399a-4c4f-aca9-7aeb13f9ae67"/>
            <p:cNvSpPr/>
            <p:nvPr/>
          </p:nvSpPr>
          <p:spPr>
            <a:xfrm>
              <a:off x="6065832" y="1900238"/>
              <a:ext cx="1448604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53" b="1" kern="0" spc="107" dirty="0">
                  <a:solidFill>
                    <a:srgbClr val="FFB093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LOWEST RELIABILITY</a:t>
              </a:r>
              <a:endParaRPr lang="en-US" sz="1053" dirty="0"/>
            </a:p>
          </p:txBody>
        </p:sp>
        <p:sp>
          <p:nvSpPr>
            <p:cNvPr id="12" name="0d9c1c1a-61b8-447e-b120-b7208e18059d"/>
            <p:cNvSpPr/>
            <p:nvPr/>
          </p:nvSpPr>
          <p:spPr>
            <a:xfrm>
              <a:off x="5795924" y="2157413"/>
              <a:ext cx="1988421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707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PrimeLogistics</a:t>
              </a:r>
              <a:endParaRPr lang="en-US" sz="2707" dirty="0"/>
            </a:p>
          </p:txBody>
        </p:sp>
        <p:sp>
          <p:nvSpPr>
            <p:cNvPr id="13" name="f57073f4-8888-4c0c-b404-91804e7a3cdf"/>
            <p:cNvSpPr/>
            <p:nvPr/>
          </p:nvSpPr>
          <p:spPr>
            <a:xfrm>
              <a:off x="5750147" y="2614613"/>
              <a:ext cx="2072831" cy="514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5400" b="1" dirty="0">
                  <a:solidFill>
                    <a:srgbClr val="FFB093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91.43%</a:t>
              </a:r>
              <a:endParaRPr lang="en-US" sz="5400" dirty="0"/>
            </a:p>
          </p:txBody>
        </p:sp>
        <p:sp>
          <p:nvSpPr>
            <p:cNvPr id="14" name="25555439-d3f7-4bc2-9021-2c48052a7c3e"/>
            <p:cNvSpPr/>
            <p:nvPr/>
          </p:nvSpPr>
          <p:spPr>
            <a:xfrm>
              <a:off x="6160128" y="3243263"/>
              <a:ext cx="1260014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7" dirty="0">
                  <a:solidFill>
                    <a:srgbClr val="000000">
                      <a:alpha val="6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Reliability Rating</a:t>
              </a:r>
              <a:endParaRPr lang="en-US" sz="1507" dirty="0"/>
            </a:p>
          </p:txBody>
        </p:sp>
      </p:grpSp>
      <p:pic>
        <p:nvPicPr>
          <p:cNvPr id="6" name="e03a725e-7438-476f-bc2e-43d6a3e9d36a::border-composit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524001"/>
            <a:ext cx="54102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3115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 tmFilter="0,0; 0.25,0.578; 0.5,0.875; 0.75,0.984; 1,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 tmFilter="0,0; 0.25,0.578; 0.5,0.875; 0.75,0.984; 1,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 tmFilter="0,0; 0.25,0.578; 0.5,0.875; 0.75,0.984; 1,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4" grpId="0"/>
      <p:bldP spid="16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afa066-f38e-4693-b2f2-03cab859de21"/>
          <p:cNvSpPr/>
          <p:nvPr/>
        </p:nvSpPr>
        <p:spPr>
          <a:xfrm>
            <a:off x="7858126" y="0"/>
            <a:ext cx="5524500" cy="6858000"/>
          </a:xfrm>
          <a:prstGeom prst="parallelogram">
            <a:avLst/>
          </a:prstGeom>
          <a:solidFill>
            <a:srgbClr val="FFFBFA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57f61871-5932-4110-a32b-4e9bd8e504da"/>
          <p:cNvSpPr/>
          <p:nvPr/>
        </p:nvSpPr>
        <p:spPr>
          <a:xfrm>
            <a:off x="457200" y="914400"/>
            <a:ext cx="7334251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625"/>
              </a:lnSpc>
              <a:buNone/>
            </a:pPr>
            <a:r>
              <a:rPr lang="en-US" sz="4507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Critical Compliance and Documentation Risks</a:t>
            </a:r>
            <a:endParaRPr lang="en-US" sz="4507" dirty="0"/>
          </a:p>
        </p:txBody>
      </p:sp>
      <p:sp>
        <p:nvSpPr>
          <p:cNvPr id="4" name="0160ffb6-e1bb-4d98-bbcb-d025857d3a25"/>
          <p:cNvSpPr/>
          <p:nvPr/>
        </p:nvSpPr>
        <p:spPr>
          <a:xfrm>
            <a:off x="457200" y="3514726"/>
            <a:ext cx="8248651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489" indent="-179489">
              <a:lnSpc>
                <a:spcPts val="3375"/>
              </a:lnSpc>
              <a:buSzPct val="100000"/>
              <a:buChar char="•"/>
            </a:pPr>
            <a:r>
              <a:rPr lang="en-US" sz="2253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Major compliance risks- quality failures 
Documentation gaps 
Supplier GMP violations </a:t>
            </a:r>
            <a:endParaRPr lang="en-US" sz="2253" dirty="0"/>
          </a:p>
        </p:txBody>
      </p:sp>
      <p:pic>
        <p:nvPicPr>
          <p:cNvPr id="5" name="slidesai_yyhjbUgf::icon-8" descr="slidesai_yyhjbUgf::icon-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96400" y="351472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50644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4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4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3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3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b517bc8-7192-4c91-9e9e-def71f553475"/>
          <p:cNvSpPr/>
          <p:nvPr/>
        </p:nvSpPr>
        <p:spPr>
          <a:xfrm>
            <a:off x="457200" y="457201"/>
            <a:ext cx="7625805" cy="723900"/>
          </a:xfrm>
          <a:prstGeom prst="rect">
            <a:avLst/>
          </a:prstGeom>
          <a:noFill/>
          <a:ln/>
        </p:spPr>
        <p:txBody>
          <a:bodyPr wrap="none" lIns="0" tIns="0" rIns="0" bIns="26670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Strategic Recommended Actions</a:t>
            </a:r>
            <a:endParaRPr lang="en-US" sz="3600" dirty="0"/>
          </a:p>
        </p:txBody>
      </p:sp>
      <p:sp>
        <p:nvSpPr>
          <p:cNvPr id="3" name="bb517bc8-7192-4c91-9e9e-def71f553475::border-strip-bottom"/>
          <p:cNvSpPr/>
          <p:nvPr/>
        </p:nvSpPr>
        <p:spPr>
          <a:xfrm>
            <a:off x="457200" y="1143001"/>
            <a:ext cx="7625805" cy="38100"/>
          </a:xfrm>
          <a:prstGeom prst="rect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</p:sp>
      <p:sp>
        <p:nvSpPr>
          <p:cNvPr id="4" name="1c099a87-b01d-4094-ad93-bb14ecd11adb"/>
          <p:cNvSpPr/>
          <p:nvPr/>
        </p:nvSpPr>
        <p:spPr>
          <a:xfrm>
            <a:off x="457201" y="4991101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7" i="1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Recommended actions for supply chain resilience.</a:t>
            </a:r>
            <a:endParaRPr lang="en-US" sz="1507" dirty="0"/>
          </a:p>
        </p:txBody>
      </p:sp>
      <p:grpSp>
        <p:nvGrpSpPr>
          <p:cNvPr id="25" name="group-NoNvwu82xsXbEO-F87oQU"/>
          <p:cNvGrpSpPr/>
          <p:nvPr/>
        </p:nvGrpSpPr>
        <p:grpSpPr>
          <a:xfrm>
            <a:off x="457200" y="1790700"/>
            <a:ext cx="5486400" cy="1219200"/>
            <a:chOff x="342900" y="1343025"/>
            <a:chExt cx="4114800" cy="914400"/>
          </a:xfrm>
        </p:grpSpPr>
        <p:sp>
          <p:nvSpPr>
            <p:cNvPr id="5" name="a7b7ca95-82e9-48ac-8bdc-5fda08500835"/>
            <p:cNvSpPr/>
            <p:nvPr/>
          </p:nvSpPr>
          <p:spPr>
            <a:xfrm>
              <a:off x="342900" y="1343025"/>
              <a:ext cx="41148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1" name="group-QyfQYhkCEe6q80lVMOb3v"/>
            <p:cNvGrpSpPr/>
            <p:nvPr/>
          </p:nvGrpSpPr>
          <p:grpSpPr>
            <a:xfrm>
              <a:off x="571500" y="1571625"/>
              <a:ext cx="457200" cy="457200"/>
              <a:chOff x="571500" y="1571625"/>
              <a:chExt cx="457200" cy="457200"/>
            </a:xfrm>
          </p:grpSpPr>
          <p:sp>
            <p:nvSpPr>
              <p:cNvPr id="9" name="slidesai_zAdXkmJK::icon-9"/>
              <p:cNvSpPr/>
              <p:nvPr/>
            </p:nvSpPr>
            <p:spPr>
              <a:xfrm>
                <a:off x="571500" y="1571625"/>
                <a:ext cx="457200" cy="457200"/>
              </a:xfrm>
              <a:prstGeom prst="roundRect">
                <a:avLst>
                  <a:gd name="adj" fmla="val 18750"/>
                </a:avLst>
              </a:prstGeom>
              <a:solidFill>
                <a:srgbClr val="858EFF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7" name="9227393f-fe79-45ad-9cb3-44405230a541" descr="9227393f-fe79-45ad-9cb3-44405230a5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800" y="1685925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0" name="ba63ff28-927c-485c-8516-973142251d14"/>
            <p:cNvSpPr/>
            <p:nvPr/>
          </p:nvSpPr>
          <p:spPr>
            <a:xfrm>
              <a:off x="1200150" y="1685925"/>
              <a:ext cx="1401028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Supplier audits</a:t>
              </a:r>
              <a:endParaRPr lang="en-US" sz="1800" dirty="0"/>
            </a:p>
          </p:txBody>
        </p:sp>
      </p:grpSp>
      <p:grpSp>
        <p:nvGrpSpPr>
          <p:cNvPr id="26" name="group-FDzkASDxTwJhpm2qf8P7T"/>
          <p:cNvGrpSpPr/>
          <p:nvPr/>
        </p:nvGrpSpPr>
        <p:grpSpPr>
          <a:xfrm>
            <a:off x="6248400" y="1790700"/>
            <a:ext cx="5486400" cy="1219200"/>
            <a:chOff x="4686300" y="1343025"/>
            <a:chExt cx="4114800" cy="914400"/>
          </a:xfrm>
        </p:grpSpPr>
        <p:sp>
          <p:nvSpPr>
            <p:cNvPr id="6" name="af3abe69-e3c2-41a7-95c5-4dff41715db2"/>
            <p:cNvSpPr/>
            <p:nvPr/>
          </p:nvSpPr>
          <p:spPr>
            <a:xfrm>
              <a:off x="4686300" y="1343025"/>
              <a:ext cx="41148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2" name="group-iMTxpx5x6deJru_oYgx2l"/>
            <p:cNvGrpSpPr/>
            <p:nvPr/>
          </p:nvGrpSpPr>
          <p:grpSpPr>
            <a:xfrm>
              <a:off x="4914900" y="1571625"/>
              <a:ext cx="457200" cy="457200"/>
              <a:chOff x="4914900" y="1571625"/>
              <a:chExt cx="457200" cy="457200"/>
            </a:xfrm>
          </p:grpSpPr>
          <p:sp>
            <p:nvSpPr>
              <p:cNvPr id="11" name="slidesai_zAdXkmJK::icon-10"/>
              <p:cNvSpPr/>
              <p:nvPr/>
            </p:nvSpPr>
            <p:spPr>
              <a:xfrm>
                <a:off x="4914900" y="1571625"/>
                <a:ext cx="457200" cy="457200"/>
              </a:xfrm>
              <a:prstGeom prst="roundRect">
                <a:avLst>
                  <a:gd name="adj" fmla="val 18750"/>
                </a:avLst>
              </a:prstGeom>
              <a:solidFill>
                <a:srgbClr val="FFB09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8" name="6368d4d1-3ba5-44b5-ba0b-d8887834dd3e" descr="6368d4d1-3ba5-44b5-ba0b-d8887834dd3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9200" y="1685925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2" name="2cc74d03-4c87-4d85-8459-dfcebd530223"/>
            <p:cNvSpPr/>
            <p:nvPr/>
          </p:nvSpPr>
          <p:spPr>
            <a:xfrm>
              <a:off x="5543550" y="1685925"/>
              <a:ext cx="1890174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Inventory validation</a:t>
              </a:r>
              <a:endParaRPr lang="en-US" sz="1800" dirty="0"/>
            </a:p>
          </p:txBody>
        </p:sp>
      </p:grpSp>
      <p:grpSp>
        <p:nvGrpSpPr>
          <p:cNvPr id="27" name="group-zfeUDN3zy8Y57yka-0tRW"/>
          <p:cNvGrpSpPr/>
          <p:nvPr/>
        </p:nvGrpSpPr>
        <p:grpSpPr>
          <a:xfrm>
            <a:off x="457200" y="3314700"/>
            <a:ext cx="5486400" cy="1219200"/>
            <a:chOff x="342900" y="2486025"/>
            <a:chExt cx="4114800" cy="914400"/>
          </a:xfrm>
        </p:grpSpPr>
        <p:sp>
          <p:nvSpPr>
            <p:cNvPr id="7" name="222f36c0-674a-46f3-8bc8-61d314df6840"/>
            <p:cNvSpPr/>
            <p:nvPr/>
          </p:nvSpPr>
          <p:spPr>
            <a:xfrm>
              <a:off x="342900" y="2486025"/>
              <a:ext cx="41148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3" name="group-IqXdTd2il0_8zW0vLDPBU"/>
            <p:cNvGrpSpPr/>
            <p:nvPr/>
          </p:nvGrpSpPr>
          <p:grpSpPr>
            <a:xfrm>
              <a:off x="571500" y="2714625"/>
              <a:ext cx="457200" cy="457200"/>
              <a:chOff x="571500" y="2714625"/>
              <a:chExt cx="457200" cy="457200"/>
            </a:xfrm>
          </p:grpSpPr>
          <p:sp>
            <p:nvSpPr>
              <p:cNvPr id="13" name="slidesai_zAdXkmJK::icon-11"/>
              <p:cNvSpPr/>
              <p:nvPr/>
            </p:nvSpPr>
            <p:spPr>
              <a:xfrm>
                <a:off x="571500" y="2714625"/>
                <a:ext cx="457200" cy="457200"/>
              </a:xfrm>
              <a:prstGeom prst="roundRect">
                <a:avLst>
                  <a:gd name="adj" fmla="val 18750"/>
                </a:avLst>
              </a:prstGeom>
              <a:solidFill>
                <a:srgbClr val="858EFF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9" name="54061d3f-b4b2-4405-b50b-ed6c38ec4724" descr="54061d3f-b4b2-4405-b50b-ed6c38ec47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800" y="2828925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4" name="28ef3456-a466-40ea-b2f6-8718af0c47f9"/>
            <p:cNvSpPr/>
            <p:nvPr/>
          </p:nvSpPr>
          <p:spPr>
            <a:xfrm>
              <a:off x="1200150" y="2828925"/>
              <a:ext cx="2417895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Traceability improvements</a:t>
              </a:r>
              <a:endParaRPr lang="en-US" sz="1800" dirty="0"/>
            </a:p>
          </p:txBody>
        </p:sp>
      </p:grpSp>
      <p:grpSp>
        <p:nvGrpSpPr>
          <p:cNvPr id="28" name="group-BvevzdltsAXrpJUo_aPsZ"/>
          <p:cNvGrpSpPr/>
          <p:nvPr/>
        </p:nvGrpSpPr>
        <p:grpSpPr>
          <a:xfrm>
            <a:off x="6248400" y="3314700"/>
            <a:ext cx="5486400" cy="1219200"/>
            <a:chOff x="4686300" y="2486025"/>
            <a:chExt cx="4114800" cy="914400"/>
          </a:xfrm>
        </p:grpSpPr>
        <p:sp>
          <p:nvSpPr>
            <p:cNvPr id="8" name="502ea70e-cf7e-4219-ab68-47f5791caed9"/>
            <p:cNvSpPr/>
            <p:nvPr/>
          </p:nvSpPr>
          <p:spPr>
            <a:xfrm>
              <a:off x="4686300" y="2486025"/>
              <a:ext cx="41148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4" name="group-dT9Re3aWoEuKk03NPq48r"/>
            <p:cNvGrpSpPr/>
            <p:nvPr/>
          </p:nvGrpSpPr>
          <p:grpSpPr>
            <a:xfrm>
              <a:off x="4914900" y="2714625"/>
              <a:ext cx="457200" cy="457200"/>
              <a:chOff x="4914900" y="2714625"/>
              <a:chExt cx="457200" cy="457200"/>
            </a:xfrm>
          </p:grpSpPr>
          <p:sp>
            <p:nvSpPr>
              <p:cNvPr id="15" name="slidesai_zAdXkmJK::icon-12"/>
              <p:cNvSpPr/>
              <p:nvPr/>
            </p:nvSpPr>
            <p:spPr>
              <a:xfrm>
                <a:off x="4914900" y="2714625"/>
                <a:ext cx="457200" cy="457200"/>
              </a:xfrm>
              <a:prstGeom prst="roundRect">
                <a:avLst>
                  <a:gd name="adj" fmla="val 18750"/>
                </a:avLst>
              </a:prstGeom>
              <a:solidFill>
                <a:srgbClr val="FFB09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20" name="5d7f0fcc-6997-434a-b272-305ff83ef5fe" descr="5d7f0fcc-6997-434a-b272-305ff83ef5fe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9200" y="2828925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6" name="600e50b6-8bfe-4cbf-a9e1-f0b9919196e8"/>
            <p:cNvSpPr/>
            <p:nvPr/>
          </p:nvSpPr>
          <p:spPr>
            <a:xfrm>
              <a:off x="5543550" y="2828925"/>
              <a:ext cx="1533044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Backup sourcing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1185075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tmFilter="0,0; 0.25,0.578; 0.5,0.875; 0.75,0.984; 1,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tmFilter="0,0; 0.25,0.578; 0.5,0.875; 0.75,0.984; 1,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 tmFilter="0,0; 0.25,0.578; 0.5,0.875; 0.75,0.984; 1,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 tmFilter="0,0; 0.25,0.578; 0.5,0.875; 0.75,0.984; 1,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 tmFilter="0,0; 0.25,0.578; 0.5,0.875; 0.75,0.984; 1,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 tmFilter="0,0; 0.25,0.578; 0.5,0.875; 0.75,0.984; 1,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25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c6d0d05-fa58-4cc4-b041-d45d33490228"/>
          <p:cNvSpPr/>
          <p:nvPr/>
        </p:nvSpPr>
        <p:spPr>
          <a:xfrm>
            <a:off x="457201" y="1733551"/>
            <a:ext cx="11315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Implementation Phases and Timeline</a:t>
            </a:r>
            <a:endParaRPr lang="en-US" sz="3600" dirty="0"/>
          </a:p>
        </p:txBody>
      </p:sp>
      <p:sp>
        <p:nvSpPr>
          <p:cNvPr id="3" name="4f8c6015-dfdd-4f8a-905a-dd489218bc45"/>
          <p:cNvSpPr/>
          <p:nvPr/>
        </p:nvSpPr>
        <p:spPr>
          <a:xfrm>
            <a:off x="914400" y="3448051"/>
            <a:ext cx="10363200" cy="76200"/>
          </a:xfrm>
          <a:prstGeom prst="roundRect">
            <a:avLst>
              <a:gd name="adj" fmla="val 50000"/>
            </a:avLst>
          </a:prstGeom>
          <a:solidFill>
            <a:srgbClr val="E5E5E5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/>
          </a:p>
        </p:txBody>
      </p:sp>
      <p:grpSp>
        <p:nvGrpSpPr>
          <p:cNvPr id="16" name="group-7JsxVTxkjgKoPwEaame0f"/>
          <p:cNvGrpSpPr/>
          <p:nvPr/>
        </p:nvGrpSpPr>
        <p:grpSpPr>
          <a:xfrm>
            <a:off x="1752600" y="3105151"/>
            <a:ext cx="762000" cy="762000"/>
            <a:chOff x="1314450" y="2328863"/>
            <a:chExt cx="571500" cy="571500"/>
          </a:xfrm>
        </p:grpSpPr>
        <p:sp>
          <p:nvSpPr>
            <p:cNvPr id="4" name="bc636353-bd5c-4b05-87d8-17d34cb6ca89"/>
            <p:cNvSpPr/>
            <p:nvPr/>
          </p:nvSpPr>
          <p:spPr>
            <a:xfrm>
              <a:off x="1314450" y="2328863"/>
              <a:ext cx="571500" cy="571500"/>
            </a:xfrm>
            <a:prstGeom prst="ellipse">
              <a:avLst/>
            </a:prstGeom>
            <a:solidFill>
              <a:srgbClr val="858EFF"/>
            </a:solidFill>
            <a:ln w="101600">
              <a:solidFill>
                <a:srgbClr val="FFFFFF"/>
              </a:solidFill>
            </a:ln>
            <a:effectLst>
              <a:outerShdw blurRad="762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3" name="7e007a2f-7f9b-40b6-8cd7-66692e54c41d"/>
            <p:cNvSpPr/>
            <p:nvPr/>
          </p:nvSpPr>
          <p:spPr>
            <a:xfrm>
              <a:off x="1314450" y="2328863"/>
              <a:ext cx="5715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b="1" dirty="0">
                  <a:solidFill>
                    <a:srgbClr val="FFFF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01</a:t>
              </a:r>
              <a:endParaRPr lang="en-US" sz="1507" dirty="0"/>
            </a:p>
          </p:txBody>
        </p:sp>
      </p:grpSp>
      <p:sp>
        <p:nvSpPr>
          <p:cNvPr id="5" name="82c91178-72cd-4a2e-ba00-fbf8d2704032"/>
          <p:cNvSpPr/>
          <p:nvPr/>
        </p:nvSpPr>
        <p:spPr>
          <a:xfrm>
            <a:off x="1485901" y="4171949"/>
            <a:ext cx="13927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Immediate</a:t>
            </a:r>
            <a:endParaRPr lang="en-US" sz="1800" dirty="0"/>
          </a:p>
        </p:txBody>
      </p:sp>
      <p:sp>
        <p:nvSpPr>
          <p:cNvPr id="6" name="1345ff5a-97b0-447f-a8c7-c547deebf8e4"/>
          <p:cNvSpPr/>
          <p:nvPr/>
        </p:nvSpPr>
        <p:spPr>
          <a:xfrm>
            <a:off x="1355070" y="4552951"/>
            <a:ext cx="16046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47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Corrective actions</a:t>
            </a:r>
            <a:endParaRPr lang="en-US" sz="1347" dirty="0"/>
          </a:p>
        </p:txBody>
      </p:sp>
      <p:grpSp>
        <p:nvGrpSpPr>
          <p:cNvPr id="17" name="group-07WA9wh3WDPO6-ROigNUt"/>
          <p:cNvGrpSpPr/>
          <p:nvPr/>
        </p:nvGrpSpPr>
        <p:grpSpPr>
          <a:xfrm>
            <a:off x="5715000" y="3105151"/>
            <a:ext cx="762000" cy="762000"/>
            <a:chOff x="4286250" y="2328863"/>
            <a:chExt cx="571500" cy="571500"/>
          </a:xfrm>
        </p:grpSpPr>
        <p:sp>
          <p:nvSpPr>
            <p:cNvPr id="7" name="2bd67cc1-f1c3-45e6-9412-c43403d6b20e"/>
            <p:cNvSpPr/>
            <p:nvPr/>
          </p:nvSpPr>
          <p:spPr>
            <a:xfrm>
              <a:off x="4286250" y="2328863"/>
              <a:ext cx="571500" cy="571500"/>
            </a:xfrm>
            <a:prstGeom prst="ellipse">
              <a:avLst/>
            </a:prstGeom>
            <a:solidFill>
              <a:srgbClr val="FFB093"/>
            </a:solidFill>
            <a:ln w="101600">
              <a:solidFill>
                <a:srgbClr val="FFFFFF"/>
              </a:solidFill>
            </a:ln>
            <a:effectLst>
              <a:outerShdw blurRad="762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4" name="e24f72d4-cd12-462e-89ed-c3b99be38e86"/>
            <p:cNvSpPr/>
            <p:nvPr/>
          </p:nvSpPr>
          <p:spPr>
            <a:xfrm>
              <a:off x="4286250" y="2328863"/>
              <a:ext cx="5715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b="1" dirty="0">
                  <a:solidFill>
                    <a:srgbClr val="FFFF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02</a:t>
              </a:r>
              <a:endParaRPr lang="en-US" sz="1507" dirty="0"/>
            </a:p>
          </p:txBody>
        </p:sp>
      </p:grpSp>
      <p:sp>
        <p:nvSpPr>
          <p:cNvPr id="8" name="e6bc5dfd-335e-4cfc-9e51-b4caf7aa6865"/>
          <p:cNvSpPr/>
          <p:nvPr/>
        </p:nvSpPr>
        <p:spPr>
          <a:xfrm>
            <a:off x="5448300" y="4171949"/>
            <a:ext cx="13815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9" name="124a3533-9fc4-47c6-8569-08ca9a2771b9"/>
          <p:cNvSpPr/>
          <p:nvPr/>
        </p:nvSpPr>
        <p:spPr>
          <a:xfrm>
            <a:off x="5223859" y="4552951"/>
            <a:ext cx="179190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47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Process stabilization</a:t>
            </a:r>
            <a:endParaRPr lang="en-US" sz="1347" dirty="0"/>
          </a:p>
        </p:txBody>
      </p:sp>
      <p:grpSp>
        <p:nvGrpSpPr>
          <p:cNvPr id="18" name="group-_Ze-3cPynl_gkX3ML3J4f"/>
          <p:cNvGrpSpPr/>
          <p:nvPr/>
        </p:nvGrpSpPr>
        <p:grpSpPr>
          <a:xfrm>
            <a:off x="9677400" y="3105151"/>
            <a:ext cx="762000" cy="762000"/>
            <a:chOff x="7258050" y="2328863"/>
            <a:chExt cx="571500" cy="571500"/>
          </a:xfrm>
        </p:grpSpPr>
        <p:sp>
          <p:nvSpPr>
            <p:cNvPr id="10" name="9b759724-0030-44ce-b2c9-6b13652ed1a4"/>
            <p:cNvSpPr/>
            <p:nvPr/>
          </p:nvSpPr>
          <p:spPr>
            <a:xfrm>
              <a:off x="7258050" y="2328863"/>
              <a:ext cx="571500" cy="571500"/>
            </a:xfrm>
            <a:prstGeom prst="ellipse">
              <a:avLst/>
            </a:prstGeom>
            <a:solidFill>
              <a:srgbClr val="858EFF"/>
            </a:solidFill>
            <a:ln w="101600">
              <a:solidFill>
                <a:srgbClr val="FFFFFF"/>
              </a:solidFill>
            </a:ln>
            <a:effectLst>
              <a:outerShdw blurRad="762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5" name="b27c2972-e77f-41a6-b028-39f0d44157ae"/>
            <p:cNvSpPr/>
            <p:nvPr/>
          </p:nvSpPr>
          <p:spPr>
            <a:xfrm>
              <a:off x="7258050" y="2328863"/>
              <a:ext cx="57150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7" b="1" dirty="0">
                  <a:solidFill>
                    <a:srgbClr val="FFFF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03</a:t>
              </a:r>
              <a:endParaRPr lang="en-US" sz="1507" dirty="0"/>
            </a:p>
          </p:txBody>
        </p:sp>
      </p:grpSp>
      <p:sp>
        <p:nvSpPr>
          <p:cNvPr id="11" name="27d4df4d-2221-4bca-8399-4c452c81c097"/>
          <p:cNvSpPr/>
          <p:nvPr/>
        </p:nvSpPr>
        <p:spPr>
          <a:xfrm>
            <a:off x="8839200" y="4171949"/>
            <a:ext cx="24574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93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Ongoing corrective actions</a:t>
            </a:r>
            <a:endParaRPr lang="en-US" sz="1800" dirty="0"/>
          </a:p>
        </p:txBody>
      </p:sp>
      <p:sp>
        <p:nvSpPr>
          <p:cNvPr id="12" name="0ef84e0b-2686-4a46-93f8-a9f64f6df0ce"/>
          <p:cNvSpPr/>
          <p:nvPr/>
        </p:nvSpPr>
        <p:spPr>
          <a:xfrm>
            <a:off x="9081885" y="4857751"/>
            <a:ext cx="19911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47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Continuous monitoring</a:t>
            </a:r>
            <a:endParaRPr lang="en-US" sz="1347" dirty="0"/>
          </a:p>
        </p:txBody>
      </p:sp>
    </p:spTree>
    <p:extLst>
      <p:ext uri="{BB962C8B-B14F-4D97-AF65-F5344CB8AC3E}">
        <p14:creationId xmlns:p14="http://schemas.microsoft.com/office/powerpoint/2010/main" val="3984154780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 tmFilter="0,0; 0.25,0.578; 0.5,0.875; 0.75,0.984; 1,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 tmFilter="0,0; 0.25,0.578; 0.5,0.875; 0.75,0.984; 1,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 tmFilter="0,0; 0.25,0.578; 0.5,0.875; 0.75,0.984; 1,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 tmFilter="0,0; 0.25,0.578; 0.5,0.875; 0.75,0.984; 1,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6" grpId="0"/>
      <p:bldP spid="5" grpId="0" animBg="1"/>
      <p:bldP spid="6" grpId="0" animBg="1"/>
      <p:bldP spid="17" grpId="0"/>
      <p:bldP spid="8" grpId="0" animBg="1"/>
      <p:bldP spid="9" grpId="0" animBg="1"/>
      <p:bldP spid="18" grpId="0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b2ba350-0cf2-47bd-a57c-1a328c81a929"/>
          <p:cNvSpPr/>
          <p:nvPr/>
        </p:nvSpPr>
        <p:spPr>
          <a:xfrm>
            <a:off x="457201" y="45720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7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Success Measurement, KPIs and Long-Term Resilience</a:t>
            </a:r>
            <a:endParaRPr lang="en-US" sz="2707" dirty="0"/>
          </a:p>
        </p:txBody>
      </p:sp>
      <p:grpSp>
        <p:nvGrpSpPr>
          <p:cNvPr id="27" name="group-RM74Jh7wCDWHvvCxlUBKS"/>
          <p:cNvGrpSpPr/>
          <p:nvPr/>
        </p:nvGrpSpPr>
        <p:grpSpPr>
          <a:xfrm>
            <a:off x="457200" y="1295400"/>
            <a:ext cx="11277600" cy="2981325"/>
            <a:chOff x="342900" y="971550"/>
            <a:chExt cx="8458200" cy="2235994"/>
          </a:xfrm>
        </p:grpSpPr>
        <p:sp>
          <p:nvSpPr>
            <p:cNvPr id="3" name="e770f001-2de0-4c5f-89f2-712c7a2bd216"/>
            <p:cNvSpPr/>
            <p:nvPr/>
          </p:nvSpPr>
          <p:spPr>
            <a:xfrm>
              <a:off x="342900" y="971550"/>
              <a:ext cx="8458200" cy="2235994"/>
            </a:xfrm>
            <a:prstGeom prst="roundRect">
              <a:avLst>
                <a:gd name="adj" fmla="val 7668"/>
              </a:avLst>
            </a:prstGeom>
            <a:solidFill>
              <a:srgbClr val="FFFFFF"/>
            </a:solidFill>
            <a:ln w="12700">
              <a:solidFill>
                <a:srgbClr val="E7E7E7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" name="de0b2499-2e0a-4813-b105-d9d7b66034a2"/>
            <p:cNvSpPr/>
            <p:nvPr/>
          </p:nvSpPr>
          <p:spPr>
            <a:xfrm>
              <a:off x="578644" y="1207294"/>
              <a:ext cx="8015288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507" b="1" kern="0" spc="147" dirty="0">
                  <a:solidFill>
                    <a:srgbClr val="858E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KPI CATEGORIES</a:t>
              </a:r>
              <a:endParaRPr lang="en-US" sz="1507" dirty="0"/>
            </a:p>
          </p:txBody>
        </p:sp>
        <p:sp>
          <p:nvSpPr>
            <p:cNvPr id="6" name="85c79c9d-d6fe-4f61-8312-6cd15304dc22"/>
            <p:cNvSpPr/>
            <p:nvPr/>
          </p:nvSpPr>
          <p:spPr>
            <a:xfrm>
              <a:off x="578644" y="2693194"/>
              <a:ext cx="8015288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507" dirty="0">
                  <a:solidFill>
                    <a:srgbClr val="000000">
                      <a:alpha val="80000"/>
                    </a:srgbClr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Success measurement- through delivery, compliance, quality, documentation KPIs</a:t>
              </a:r>
              <a:endParaRPr lang="en-US" sz="1507" dirty="0"/>
            </a:p>
          </p:txBody>
        </p:sp>
        <p:grpSp>
          <p:nvGrpSpPr>
            <p:cNvPr id="22" name="group-hVis5Ol8e31mhfgv9vPlP"/>
            <p:cNvGrpSpPr/>
            <p:nvPr/>
          </p:nvGrpSpPr>
          <p:grpSpPr>
            <a:xfrm>
              <a:off x="578644" y="1578769"/>
              <a:ext cx="1871663" cy="885825"/>
              <a:chOff x="578644" y="1578769"/>
              <a:chExt cx="1871663" cy="885825"/>
            </a:xfrm>
          </p:grpSpPr>
          <p:sp>
            <p:nvSpPr>
              <p:cNvPr id="7" name="26ca9cd2-f98b-436a-a040-09b6f6969f3e"/>
              <p:cNvSpPr/>
              <p:nvPr/>
            </p:nvSpPr>
            <p:spPr>
              <a:xfrm>
                <a:off x="578644" y="1578769"/>
                <a:ext cx="1871663" cy="885825"/>
              </a:xfrm>
              <a:prstGeom prst="roundRect">
                <a:avLst>
                  <a:gd name="adj" fmla="val 12903"/>
                </a:avLst>
              </a:prstGeom>
              <a:solidFill>
                <a:srgbClr val="F3F3F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3" name="slidesai_hQClQYsF::icon-13" descr="slidesai_hQClQYsF::icon-1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3025" y="1693069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4" name="435072e4-0d8c-462d-a2b6-7448a2172022"/>
              <p:cNvSpPr/>
              <p:nvPr/>
            </p:nvSpPr>
            <p:spPr>
              <a:xfrm>
                <a:off x="1243013" y="2150269"/>
                <a:ext cx="615616" cy="200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347" b="1" dirty="0">
                    <a:solidFill>
                      <a:srgbClr val="000000"/>
                    </a:solidFill>
                    <a:latin typeface="Lexend" pitchFamily="34" charset="0"/>
                    <a:ea typeface="Lexend" pitchFamily="34" charset="-122"/>
                    <a:cs typeface="Lexend" pitchFamily="34" charset="-120"/>
                  </a:rPr>
                  <a:t>Delivery</a:t>
                </a:r>
                <a:endParaRPr lang="en-US" sz="1347" dirty="0"/>
              </a:p>
            </p:txBody>
          </p:sp>
        </p:grpSp>
        <p:grpSp>
          <p:nvGrpSpPr>
            <p:cNvPr id="23" name="group-fOzG5My27av0UkEqvZLBl"/>
            <p:cNvGrpSpPr/>
            <p:nvPr/>
          </p:nvGrpSpPr>
          <p:grpSpPr>
            <a:xfrm>
              <a:off x="2621756" y="1578769"/>
              <a:ext cx="1871663" cy="885825"/>
              <a:chOff x="2621756" y="1578769"/>
              <a:chExt cx="1871663" cy="885825"/>
            </a:xfrm>
          </p:grpSpPr>
          <p:sp>
            <p:nvSpPr>
              <p:cNvPr id="8" name="93c298ef-5aab-4d31-a946-53399666df73"/>
              <p:cNvSpPr/>
              <p:nvPr/>
            </p:nvSpPr>
            <p:spPr>
              <a:xfrm>
                <a:off x="2621756" y="1578769"/>
                <a:ext cx="1871663" cy="885825"/>
              </a:xfrm>
              <a:prstGeom prst="roundRect">
                <a:avLst>
                  <a:gd name="adj" fmla="val 12903"/>
                </a:avLst>
              </a:prstGeom>
              <a:solidFill>
                <a:srgbClr val="F3F3F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5" name="slidesai_hQClQYsF::icon-14" descr="slidesai_hQClQYsF::icon-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6138" y="1693069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6" name="164ff448-c068-4162-a2ef-9383069771bb"/>
              <p:cNvSpPr/>
              <p:nvPr/>
            </p:nvSpPr>
            <p:spPr>
              <a:xfrm>
                <a:off x="3171825" y="2150269"/>
                <a:ext cx="843472" cy="200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347" b="1" dirty="0">
                    <a:solidFill>
                      <a:srgbClr val="000000"/>
                    </a:solidFill>
                    <a:latin typeface="Lexend" pitchFamily="34" charset="0"/>
                    <a:ea typeface="Lexend" pitchFamily="34" charset="-122"/>
                    <a:cs typeface="Lexend" pitchFamily="34" charset="-120"/>
                  </a:rPr>
                  <a:t>Compliance</a:t>
                </a:r>
                <a:endParaRPr lang="en-US" sz="1347" dirty="0"/>
              </a:p>
            </p:txBody>
          </p:sp>
        </p:grpSp>
        <p:grpSp>
          <p:nvGrpSpPr>
            <p:cNvPr id="24" name="group-v7er5Gi6Um3HyQTUl9R1G"/>
            <p:cNvGrpSpPr/>
            <p:nvPr/>
          </p:nvGrpSpPr>
          <p:grpSpPr>
            <a:xfrm>
              <a:off x="4657725" y="1578769"/>
              <a:ext cx="1871663" cy="885825"/>
              <a:chOff x="4657725" y="1578769"/>
              <a:chExt cx="1871663" cy="885825"/>
            </a:xfrm>
          </p:grpSpPr>
          <p:sp>
            <p:nvSpPr>
              <p:cNvPr id="9" name="68cf18c5-4e81-4665-a00c-6fe1838e1004"/>
              <p:cNvSpPr/>
              <p:nvPr/>
            </p:nvSpPr>
            <p:spPr>
              <a:xfrm>
                <a:off x="4657725" y="1578769"/>
                <a:ext cx="1871663" cy="885825"/>
              </a:xfrm>
              <a:prstGeom prst="roundRect">
                <a:avLst>
                  <a:gd name="adj" fmla="val 12903"/>
                </a:avLst>
              </a:prstGeom>
              <a:solidFill>
                <a:srgbClr val="F3F3F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7" name="slidesai_hQClQYsF::icon-15" descr="slidesai_hQClQYsF::icon-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22106" y="1693069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8" name="96984213-f137-4472-93cd-76a992f5c682"/>
              <p:cNvSpPr/>
              <p:nvPr/>
            </p:nvSpPr>
            <p:spPr>
              <a:xfrm>
                <a:off x="5350669" y="2150269"/>
                <a:ext cx="554152" cy="200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347" b="1" dirty="0">
                    <a:solidFill>
                      <a:srgbClr val="000000"/>
                    </a:solidFill>
                    <a:latin typeface="Lexend" pitchFamily="34" charset="0"/>
                    <a:ea typeface="Lexend" pitchFamily="34" charset="-122"/>
                    <a:cs typeface="Lexend" pitchFamily="34" charset="-120"/>
                  </a:rPr>
                  <a:t>Quality</a:t>
                </a:r>
                <a:endParaRPr lang="en-US" sz="1347" dirty="0"/>
              </a:p>
            </p:txBody>
          </p:sp>
        </p:grpSp>
        <p:grpSp>
          <p:nvGrpSpPr>
            <p:cNvPr id="25" name="group-f00Uf1EfGIF4Py3LyfP8o"/>
            <p:cNvGrpSpPr/>
            <p:nvPr/>
          </p:nvGrpSpPr>
          <p:grpSpPr>
            <a:xfrm>
              <a:off x="6700838" y="1578769"/>
              <a:ext cx="1871663" cy="885825"/>
              <a:chOff x="6700838" y="1578769"/>
              <a:chExt cx="1871663" cy="885825"/>
            </a:xfrm>
          </p:grpSpPr>
          <p:sp>
            <p:nvSpPr>
              <p:cNvPr id="10" name="3fae2755-0be3-422f-906f-ef344cdfe764"/>
              <p:cNvSpPr/>
              <p:nvPr/>
            </p:nvSpPr>
            <p:spPr>
              <a:xfrm>
                <a:off x="6700838" y="1578769"/>
                <a:ext cx="1871663" cy="885825"/>
              </a:xfrm>
              <a:prstGeom prst="roundRect">
                <a:avLst>
                  <a:gd name="adj" fmla="val 12903"/>
                </a:avLst>
              </a:prstGeom>
              <a:solidFill>
                <a:srgbClr val="F3F3F3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19" name="slidesai_hQClQYsF::icon-16" descr="slidesai_hQClQYsF::icon-1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65219" y="1693069"/>
                <a:ext cx="342900" cy="342900"/>
              </a:xfrm>
              <a:prstGeom prst="rect">
                <a:avLst/>
              </a:prstGeom>
            </p:spPr>
          </p:pic>
          <p:sp>
            <p:nvSpPr>
              <p:cNvPr id="20" name="529afec5-0ca7-4c85-bbe5-4bd6d6d7606b"/>
              <p:cNvSpPr/>
              <p:nvPr/>
            </p:nvSpPr>
            <p:spPr>
              <a:xfrm>
                <a:off x="7129463" y="2150269"/>
                <a:ext cx="1078014" cy="200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347" b="1" dirty="0">
                    <a:solidFill>
                      <a:srgbClr val="000000"/>
                    </a:solidFill>
                    <a:latin typeface="Lexend" pitchFamily="34" charset="0"/>
                    <a:ea typeface="Lexend" pitchFamily="34" charset="-122"/>
                    <a:cs typeface="Lexend" pitchFamily="34" charset="-120"/>
                  </a:rPr>
                  <a:t>Documentation</a:t>
                </a:r>
                <a:endParaRPr lang="en-US" sz="1347" dirty="0"/>
              </a:p>
            </p:txBody>
          </p:sp>
        </p:grpSp>
      </p:grpSp>
      <p:grpSp>
        <p:nvGrpSpPr>
          <p:cNvPr id="28" name="group-b-t0HwwpFcFyxd_5QmRSO"/>
          <p:cNvGrpSpPr/>
          <p:nvPr/>
        </p:nvGrpSpPr>
        <p:grpSpPr>
          <a:xfrm>
            <a:off x="457200" y="4581526"/>
            <a:ext cx="11277600" cy="1476375"/>
            <a:chOff x="342900" y="3436144"/>
            <a:chExt cx="8458200" cy="1107281"/>
          </a:xfrm>
        </p:grpSpPr>
        <p:sp>
          <p:nvSpPr>
            <p:cNvPr id="4" name="16d86f5a-8f9a-43cf-9ec5-5d5cfe4f16d0"/>
            <p:cNvSpPr/>
            <p:nvPr/>
          </p:nvSpPr>
          <p:spPr>
            <a:xfrm>
              <a:off x="342900" y="3436144"/>
              <a:ext cx="8458200" cy="1107281"/>
            </a:xfrm>
            <a:prstGeom prst="roundRect">
              <a:avLst>
                <a:gd name="adj" fmla="val 15484"/>
              </a:avLst>
            </a:prstGeom>
            <a:solidFill>
              <a:srgbClr val="858EFF"/>
            </a:solidFill>
            <a:ln/>
            <a:effectLst>
              <a:outerShdw blurRad="762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3200" dirty="0"/>
            </a:p>
          </p:txBody>
        </p:sp>
        <p:grpSp>
          <p:nvGrpSpPr>
            <p:cNvPr id="26" name="group-X26IyeT4EukdjzhuPBWN2"/>
            <p:cNvGrpSpPr/>
            <p:nvPr/>
          </p:nvGrpSpPr>
          <p:grpSpPr>
            <a:xfrm>
              <a:off x="571500" y="3664744"/>
              <a:ext cx="571500" cy="571500"/>
              <a:chOff x="571500" y="3664744"/>
              <a:chExt cx="571500" cy="571500"/>
            </a:xfrm>
          </p:grpSpPr>
          <p:sp>
            <p:nvSpPr>
              <p:cNvPr id="11" name="slidesai_hQClQYsF::icon-17"/>
              <p:cNvSpPr/>
              <p:nvPr/>
            </p:nvSpPr>
            <p:spPr>
              <a:xfrm>
                <a:off x="571500" y="3664744"/>
                <a:ext cx="5715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9DA5FF"/>
              </a:solidFill>
              <a:ln/>
            </p:spPr>
            <p:txBody>
              <a:bodyPr wrap="square" lIns="0" tIns="0" rIns="0" bIns="0" rtlCol="0" anchor="ctr"/>
              <a:lstStyle>
                <a:lvl1pPr marL="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924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509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93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78" algn="l" defTabSz="121917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sz="3200" dirty="0"/>
              </a:p>
            </p:txBody>
          </p:sp>
          <p:pic>
            <p:nvPicPr>
              <p:cNvPr id="21" name="7db25e3d-eaf4-4943-b81b-735dc01af39b" descr="7db25e3d-eaf4-4943-b81b-735dc01af39b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375" y="3807619"/>
                <a:ext cx="285750" cy="285750"/>
              </a:xfrm>
              <a:prstGeom prst="rect">
                <a:avLst/>
              </a:prstGeom>
            </p:spPr>
          </p:pic>
        </p:grpSp>
        <p:sp>
          <p:nvSpPr>
            <p:cNvPr id="12" name="05ecf6d1-b8b2-46d8-b73c-7f383b21ae6f"/>
            <p:cNvSpPr/>
            <p:nvPr/>
          </p:nvSpPr>
          <p:spPr>
            <a:xfrm>
              <a:off x="1371600" y="3671888"/>
              <a:ext cx="7215188" cy="5572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2933"/>
                </a:lnSpc>
                <a:buNone/>
              </a:pPr>
              <a:r>
                <a:rPr lang="en-US" sz="1800" dirty="0">
                  <a:solidFill>
                    <a:srgbClr val="FFFFFF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Continuous monitoring &amp; corrective actions will improve compliance &amp; supply chain resilience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2955771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/>
      <p:bldP spid="28" grpId="0"/>
    </p:bldLst>
  </p:timing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004889-6122-4911-BFC0-D48536CED8B1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242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Lexend</vt:lpstr>
      <vt:lpstr>Lexend Medium</vt:lpstr>
      <vt:lpstr>Arial</vt:lpstr>
      <vt:lpstr>SlidesAI Simple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Kothiyal</dc:creator>
  <cp:lastModifiedBy>Shreya Kothiyal</cp:lastModifiedBy>
  <cp:revision>1</cp:revision>
  <dcterms:created xsi:type="dcterms:W3CDTF">2026-06-12T07:07:02Z</dcterms:created>
  <dcterms:modified xsi:type="dcterms:W3CDTF">2026-06-12T07:33:33Z</dcterms:modified>
</cp:coreProperties>
</file>